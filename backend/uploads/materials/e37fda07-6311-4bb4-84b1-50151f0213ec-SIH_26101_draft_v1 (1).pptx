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74"/>
    <p:restoredTop sz="57963" autoAdjust="0"/>
  </p:normalViewPr>
  <p:slideViewPr>
    <p:cSldViewPr snapToGrid="0" snapToObjects="1">
      <p:cViewPr varScale="1">
        <p:scale>
          <a:sx n="48" d="100"/>
          <a:sy n="48" d="100"/>
        </p:scale>
        <p:origin x="2093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Good morning everyone.</a:t>
            </a:r>
          </a:p>
          <a:p>
            <a:r>
              <a:rPr lang="en-IN" dirty="0"/>
              <a:t>We are Team </a:t>
            </a:r>
            <a:r>
              <a:rPr lang="en-IN" b="1" dirty="0" err="1"/>
              <a:t>Logic_Unlocked</a:t>
            </a:r>
            <a:r>
              <a:rPr lang="en-IN" dirty="0"/>
              <a:t>, and our problem statement is </a:t>
            </a:r>
            <a:r>
              <a:rPr lang="en-IN" b="1" dirty="0"/>
              <a:t>26101</a:t>
            </a:r>
            <a:r>
              <a:rPr lang="en-IN" dirty="0"/>
              <a:t>, given by the Ministry of Statistics and Programme Implementation.</a:t>
            </a:r>
          </a:p>
          <a:p>
            <a:r>
              <a:rPr lang="en-IN" dirty="0"/>
              <a:t>The problem is about building an </a:t>
            </a:r>
            <a:r>
              <a:rPr lang="en-IN" b="1" dirty="0"/>
              <a:t>AI-enabled learning platform</a:t>
            </a:r>
            <a:r>
              <a:rPr lang="en-IN" dirty="0"/>
              <a:t> for India's Official Statistical System.</a:t>
            </a:r>
          </a:p>
          <a:p>
            <a:r>
              <a:rPr lang="en-IN" dirty="0"/>
              <a:t>In simple terms, our goal is to help government officials understand </a:t>
            </a:r>
            <a:r>
              <a:rPr lang="en-IN" b="1" dirty="0"/>
              <a:t>what skills they currently have, where they have skill gaps, and what they should learn next</a:t>
            </a:r>
            <a:r>
              <a:rPr lang="en-IN" dirty="0"/>
              <a:t>.</a:t>
            </a:r>
          </a:p>
          <a:p>
            <a:r>
              <a:rPr lang="en-IN" dirty="0"/>
              <a:t>And the main idea behind our solution is simple:</a:t>
            </a:r>
          </a:p>
          <a:p>
            <a:r>
              <a:rPr lang="en-IN" b="1" dirty="0"/>
              <a:t>We want to move from one-time training to continuous competency development.</a:t>
            </a:r>
          </a:p>
          <a:p>
            <a:endParaRPr lang="en-IN" dirty="0"/>
          </a:p>
          <a:p>
            <a:r>
              <a:rPr lang="en-IN" dirty="0"/>
              <a:t>So first, let's understand what is missing in the current training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690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IN" dirty="0"/>
              <a:t>Today, government officials go through different training programmes and courses.</a:t>
            </a:r>
          </a:p>
          <a:p>
            <a:r>
              <a:rPr lang="en-IN" dirty="0"/>
              <a:t>But completing a course does not necessarily tell us </a:t>
            </a:r>
            <a:r>
              <a:rPr lang="en-IN" b="1" dirty="0"/>
              <a:t>what the person has actually become good at</a:t>
            </a:r>
            <a:r>
              <a:rPr lang="en-IN" dirty="0"/>
              <a:t>, or </a:t>
            </a:r>
            <a:r>
              <a:rPr lang="en-IN" b="1" dirty="0"/>
              <a:t>what skill they still need to improve</a:t>
            </a:r>
            <a:r>
              <a:rPr lang="en-IN" dirty="0"/>
              <a:t>.</a:t>
            </a:r>
          </a:p>
          <a:p>
            <a:r>
              <a:rPr lang="en-IN" dirty="0"/>
              <a:t>We identified four major challenges.</a:t>
            </a:r>
            <a:endParaRPr lang="en-US" dirty="0">
              <a:ea typeface="ＭＳ Ｐゴシック" pitchFamily="1" charset="-128"/>
            </a:endParaRPr>
          </a:p>
          <a:p>
            <a:endParaRPr lang="en-US" dirty="0">
              <a:ea typeface="ＭＳ Ｐゴシック" pitchFamily="1" charset="-128"/>
            </a:endParaRPr>
          </a:p>
          <a:p>
            <a:r>
              <a:rPr lang="en-IN" b="1" dirty="0"/>
              <a:t>The important point is that our system doesn't stop after training. It learns from the result of training and decides what should happen next.</a:t>
            </a:r>
            <a:endParaRPr lang="en-IN" dirty="0"/>
          </a:p>
          <a:p>
            <a:endParaRPr lang="en-IN" dirty="0"/>
          </a:p>
          <a:p>
            <a:r>
              <a:rPr lang="en-IN" dirty="0"/>
              <a:t>Now let me explain how we technically implement this.</a:t>
            </a:r>
          </a:p>
          <a:p>
            <a:endParaRPr lang="en-IN" dirty="0"/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IN" dirty="0"/>
              <a:t>We use </a:t>
            </a:r>
            <a:r>
              <a:rPr lang="en-IN" b="1" dirty="0"/>
              <a:t>NLP and AI</a:t>
            </a:r>
            <a:r>
              <a:rPr lang="en-IN" dirty="0"/>
              <a:t> to understand both the learner information and the learning content.</a:t>
            </a:r>
          </a:p>
          <a:p>
            <a:pPr eaLnBrk="1" hangingPunct="1">
              <a:spcBef>
                <a:spcPct val="0"/>
              </a:spcBef>
            </a:pPr>
            <a:r>
              <a:rPr lang="en-IN" dirty="0"/>
              <a:t>Finally, the competency profile is updated through reassessment.</a:t>
            </a:r>
          </a:p>
          <a:p>
            <a:pPr eaLnBrk="1" hangingPunct="1">
              <a:spcBef>
                <a:spcPct val="0"/>
              </a:spcBef>
            </a:pPr>
            <a:endParaRPr lang="en-IN" dirty="0"/>
          </a:p>
          <a:p>
            <a:r>
              <a:rPr lang="en-IN" b="1" dirty="0"/>
              <a:t>DPDP = Digital Personal Data Protection.</a:t>
            </a:r>
            <a:endParaRPr lang="en-IN" dirty="0"/>
          </a:p>
          <a:p>
            <a:r>
              <a:rPr lang="en-IN" dirty="0"/>
              <a:t>In India, the </a:t>
            </a:r>
            <a:r>
              <a:rPr lang="en-IN" b="1" dirty="0"/>
              <a:t>Digital Personal Data Protection Act, 2023 (DPDP Act)</a:t>
            </a:r>
            <a:r>
              <a:rPr lang="en-IN" dirty="0"/>
              <a:t> is the law dealing with processing and protection of people's digital personal data.</a:t>
            </a:r>
          </a:p>
          <a:p>
            <a:pPr eaLnBrk="1" hangingPunct="1">
              <a:spcBef>
                <a:spcPct val="0"/>
              </a:spcBef>
            </a:pPr>
            <a:endParaRPr lang="en-IN" dirty="0"/>
          </a:p>
          <a:p>
            <a:pPr eaLnBrk="1" hangingPunct="1">
              <a:spcBef>
                <a:spcPct val="0"/>
              </a:spcBef>
            </a:pPr>
            <a:endParaRPr lang="en-IN" dirty="0">
              <a:ea typeface="ＭＳ Ｐゴシック" pitchFamily="1" charset="-128"/>
            </a:endParaRPr>
          </a:p>
          <a:p>
            <a:pPr eaLnBrk="1" hangingPunct="1">
              <a:spcBef>
                <a:spcPct val="0"/>
              </a:spcBef>
            </a:pPr>
            <a:r>
              <a:rPr lang="en-IN" dirty="0"/>
              <a:t>We are not trying to replace </a:t>
            </a:r>
            <a:r>
              <a:rPr lang="en-IN" dirty="0" err="1"/>
              <a:t>iGOT</a:t>
            </a:r>
            <a:r>
              <a:rPr lang="en-IN" dirty="0"/>
              <a:t>. </a:t>
            </a:r>
            <a:r>
              <a:rPr lang="en-IN" dirty="0" err="1"/>
              <a:t>iGOT</a:t>
            </a:r>
            <a:r>
              <a:rPr lang="en-IN" dirty="0"/>
              <a:t> provides the learning ecosystem, while </a:t>
            </a:r>
            <a:r>
              <a:rPr lang="en-IN" dirty="0" err="1"/>
              <a:t>Skillify</a:t>
            </a:r>
            <a:r>
              <a:rPr lang="en-IN" dirty="0"/>
              <a:t> adds the competency and assessment intelligence layer around it.</a:t>
            </a:r>
          </a:p>
          <a:p>
            <a:pPr eaLnBrk="1" hangingPunct="1">
              <a:spcBef>
                <a:spcPct val="0"/>
              </a:spcBef>
            </a:pPr>
            <a:r>
              <a:rPr lang="en-IN" dirty="0"/>
              <a:t>Now the question is — can this actually be built and deployed?</a:t>
            </a: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IN" b="1" dirty="0"/>
              <a:t>DPDP = Digital Personal Data Protection.</a:t>
            </a:r>
            <a:endParaRPr lang="en-IN" dirty="0"/>
          </a:p>
          <a:p>
            <a:r>
              <a:rPr lang="en-IN" dirty="0"/>
              <a:t>In India, the </a:t>
            </a:r>
            <a:r>
              <a:rPr lang="en-IN" b="1" dirty="0"/>
              <a:t>Digital Personal Data Protection Act, 2023 (DPDP Act)</a:t>
            </a:r>
            <a:r>
              <a:rPr lang="en-IN" dirty="0"/>
              <a:t> is the law dealing with processing and protection of people's digital personal data.</a:t>
            </a:r>
          </a:p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  <a:p>
            <a:pPr eaLnBrk="1" hangingPunct="1">
              <a:spcBef>
                <a:spcPct val="0"/>
              </a:spcBef>
            </a:pPr>
            <a:r>
              <a:rPr lang="en-IN" dirty="0"/>
              <a:t>Now let's look at what impact this creates for the learner, trainer and government.</a:t>
            </a: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IN" dirty="0"/>
              <a:t>Finally, let me show you what we already have as the foundation for this solution.</a:t>
            </a: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IN" dirty="0"/>
              <a:t>We are not starting this project completely from scratch.</a:t>
            </a:r>
          </a:p>
          <a:p>
            <a:r>
              <a:rPr lang="en-IN" dirty="0"/>
              <a:t>Our team has already developed </a:t>
            </a:r>
            <a:r>
              <a:rPr lang="en-IN" b="1" dirty="0" err="1"/>
              <a:t>Skillify</a:t>
            </a:r>
            <a:r>
              <a:rPr lang="en-IN" dirty="0"/>
              <a:t>, an AI-enabled learning platform, and these screenshots show some of the existing modules that form the technical foundation for our SIH solution.</a:t>
            </a:r>
          </a:p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  <a:p>
            <a:r>
              <a:rPr lang="en-IN" dirty="0"/>
              <a:t>To summarize, </a:t>
            </a:r>
            <a:r>
              <a:rPr lang="en-IN" dirty="0" err="1"/>
              <a:t>Skillify</a:t>
            </a:r>
            <a:r>
              <a:rPr lang="en-IN" dirty="0"/>
              <a:t> brings everything into one continuous cycle:</a:t>
            </a:r>
          </a:p>
          <a:p>
            <a:r>
              <a:rPr lang="en-IN" dirty="0"/>
              <a:t>And as we are not starting from zero and we do have experience in building this kind of </a:t>
            </a:r>
            <a:r>
              <a:rPr lang="en-IN" dirty="0" err="1"/>
              <a:t>softwares</a:t>
            </a:r>
            <a:r>
              <a:rPr lang="en-IN" dirty="0"/>
              <a:t> so we think we have a head start and try to achieve the best  and efficient solution for this problem.</a:t>
            </a:r>
          </a:p>
          <a:p>
            <a:r>
              <a:rPr lang="en-IN" b="1" dirty="0"/>
              <a:t>Thank you. We are happy to take your questions.</a:t>
            </a:r>
            <a:endParaRPr lang="en-IN" dirty="0"/>
          </a:p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52241" y="323850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3127" y="1324463"/>
            <a:ext cx="11565746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26101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Develop an AI enabled learning platform that identifies competency gaps, recommends personalized training through integration with the </a:t>
            </a:r>
            <a:r>
              <a:rPr lang="en-IN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iGOT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Karmayogi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 ecosystem, and capable of generating Quizzes and Multiple choice questions (MCQs) from uploaded learning materials to strengthen capacity building in India's Official Statistical System.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ID- 35B333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Logic_Unlocked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-42885" y="-537863"/>
            <a:ext cx="12191999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886" y="59491"/>
            <a:ext cx="158615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Logic_</a:t>
            </a:r>
          </a:p>
          <a:p>
            <a:pPr algn="ctr"/>
            <a:r>
              <a:rPr lang="en-US" dirty="0"/>
              <a:t>Unlocked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49" y="0"/>
            <a:ext cx="2249850" cy="1062337"/>
          </a:xfrm>
          <a:prstGeom prst="rect">
            <a:avLst/>
          </a:prstGeom>
        </p:spPr>
      </p:pic>
      <p:sp>
        <p:nvSpPr>
          <p:cNvPr id="3" name="Text 1">
            <a:extLst>
              <a:ext uri="{FF2B5EF4-FFF2-40B4-BE49-F238E27FC236}">
                <a16:creationId xmlns:a16="http://schemas.microsoft.com/office/drawing/2014/main" id="{ED19313F-0EB7-5647-7BEA-0C32B44B99E4}"/>
              </a:ext>
            </a:extLst>
          </p:cNvPr>
          <p:cNvSpPr txBox="1"/>
          <p:nvPr/>
        </p:nvSpPr>
        <p:spPr>
          <a:xfrm>
            <a:off x="2164079" y="745031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Static Training to Competency Intelligence</a:t>
            </a:r>
            <a:endParaRPr lang="en-US" sz="2500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125B4777-816B-E4B2-87E3-252EF37526DE}"/>
              </a:ext>
            </a:extLst>
          </p:cNvPr>
          <p:cNvSpPr txBox="1"/>
          <p:nvPr/>
        </p:nvSpPr>
        <p:spPr>
          <a:xfrm>
            <a:off x="115369" y="123118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— WHAT'S BROKEN</a:t>
            </a:r>
            <a:endParaRPr lang="en-US" sz="11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A1D6D38-C711-649C-81DD-410DF79412C1}"/>
              </a:ext>
            </a:extLst>
          </p:cNvPr>
          <p:cNvSpPr/>
          <p:nvPr/>
        </p:nvSpPr>
        <p:spPr>
          <a:xfrm>
            <a:off x="115369" y="1516165"/>
            <a:ext cx="2724912" cy="896112"/>
          </a:xfrm>
          <a:prstGeom prst="roundRect">
            <a:avLst>
              <a:gd name="adj" fmla="val 8163"/>
            </a:avLst>
          </a:prstGeom>
          <a:solidFill>
            <a:srgbClr val="F7E9E6"/>
          </a:solidFill>
          <a:ln w="12700">
            <a:solidFill>
              <a:srgbClr val="E9CFC7"/>
            </a:solidFill>
            <a:prstDash val="solid"/>
          </a:ln>
        </p:spPr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225BC6A1-0775-6AFD-8759-88E71FC744C7}"/>
              </a:ext>
            </a:extLst>
          </p:cNvPr>
          <p:cNvSpPr/>
          <p:nvPr/>
        </p:nvSpPr>
        <p:spPr>
          <a:xfrm>
            <a:off x="3182784" y="1516165"/>
            <a:ext cx="2724912" cy="896112"/>
          </a:xfrm>
          <a:prstGeom prst="roundRect">
            <a:avLst>
              <a:gd name="adj" fmla="val 8163"/>
            </a:avLst>
          </a:prstGeom>
          <a:solidFill>
            <a:srgbClr val="F7E9E6"/>
          </a:solidFill>
          <a:ln w="12700">
            <a:solidFill>
              <a:srgbClr val="E9CFC7"/>
            </a:solidFill>
            <a:prstDash val="solid"/>
          </a:ln>
        </p:spPr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83528CB4-9C61-556C-CF63-3CA0B9E9DD99}"/>
              </a:ext>
            </a:extLst>
          </p:cNvPr>
          <p:cNvSpPr/>
          <p:nvPr/>
        </p:nvSpPr>
        <p:spPr>
          <a:xfrm>
            <a:off x="6250200" y="1516165"/>
            <a:ext cx="2724912" cy="896112"/>
          </a:xfrm>
          <a:prstGeom prst="roundRect">
            <a:avLst>
              <a:gd name="adj" fmla="val 8163"/>
            </a:avLst>
          </a:prstGeom>
          <a:solidFill>
            <a:srgbClr val="F7E9E6"/>
          </a:solidFill>
          <a:ln w="12700">
            <a:solidFill>
              <a:srgbClr val="E9CFC7"/>
            </a:solidFill>
            <a:prstDash val="solid"/>
          </a:ln>
        </p:spPr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D4D1CA92-DE53-1EF5-F0A9-6DEA41EA0EB8}"/>
              </a:ext>
            </a:extLst>
          </p:cNvPr>
          <p:cNvSpPr/>
          <p:nvPr/>
        </p:nvSpPr>
        <p:spPr>
          <a:xfrm>
            <a:off x="9317616" y="1516165"/>
            <a:ext cx="2724912" cy="896112"/>
          </a:xfrm>
          <a:prstGeom prst="roundRect">
            <a:avLst>
              <a:gd name="adj" fmla="val 8163"/>
            </a:avLst>
          </a:prstGeom>
          <a:solidFill>
            <a:srgbClr val="F7E9E6"/>
          </a:solidFill>
          <a:ln w="12700">
            <a:solidFill>
              <a:srgbClr val="E9CFC7"/>
            </a:solidFill>
            <a:prstDash val="solid"/>
          </a:ln>
        </p:spPr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FD4EE3B0-80BC-7A2F-4A97-63B1B20B5851}"/>
              </a:ext>
            </a:extLst>
          </p:cNvPr>
          <p:cNvSpPr txBox="1"/>
          <p:nvPr/>
        </p:nvSpPr>
        <p:spPr>
          <a:xfrm>
            <a:off x="243385" y="15539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certificate</a:t>
            </a:r>
            <a:endParaRPr lang="en-US" sz="115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1C92D8AC-D6FB-DC13-5FF2-958ACBD28502}"/>
              </a:ext>
            </a:extLst>
          </p:cNvPr>
          <p:cNvSpPr txBox="1"/>
          <p:nvPr/>
        </p:nvSpPr>
        <p:spPr>
          <a:xfrm>
            <a:off x="3310800" y="15539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scoring</a:t>
            </a:r>
            <a:endParaRPr lang="en-US" sz="1150" dirty="0"/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FFD5DE9F-3726-C688-64AB-62ED894B3C27}"/>
              </a:ext>
            </a:extLst>
          </p:cNvPr>
          <p:cNvSpPr txBox="1"/>
          <p:nvPr/>
        </p:nvSpPr>
        <p:spPr>
          <a:xfrm>
            <a:off x="6378216" y="15539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course search</a:t>
            </a:r>
            <a:endParaRPr lang="en-US" sz="115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29DD2E8E-F5A8-C2F0-CD31-32259FAF7E7C}"/>
              </a:ext>
            </a:extLst>
          </p:cNvPr>
          <p:cNvSpPr txBox="1"/>
          <p:nvPr/>
        </p:nvSpPr>
        <p:spPr>
          <a:xfrm>
            <a:off x="9445632" y="15539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15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C7167C87-FA00-F782-F531-79ABAF010274}"/>
              </a:ext>
            </a:extLst>
          </p:cNvPr>
          <p:cNvSpPr txBox="1"/>
          <p:nvPr/>
        </p:nvSpPr>
        <p:spPr>
          <a:xfrm>
            <a:off x="243385" y="18282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is frozen after a course </a:t>
            </a:r>
            <a:r>
              <a:rPr lang="en-US" sz="880" dirty="0">
                <a:solidFill>
                  <a:srgbClr val="3C4756"/>
                </a:solidFill>
                <a:ea typeface="Calibri" pitchFamily="34" charset="-122"/>
                <a:cs typeface="Calibri" pitchFamily="34" charset="-120"/>
              </a:rPr>
              <a:t>- </a:t>
            </a:r>
            <a:r>
              <a:rPr lang="en-US" sz="88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updates as skills change.</a:t>
            </a:r>
            <a:endParaRPr lang="en-US" sz="880" dirty="0"/>
          </a:p>
        </p:txBody>
      </p:sp>
      <p:sp>
        <p:nvSpPr>
          <p:cNvPr id="20" name="Text 10">
            <a:extLst>
              <a:ext uri="{FF2B5EF4-FFF2-40B4-BE49-F238E27FC236}">
                <a16:creationId xmlns:a16="http://schemas.microsoft.com/office/drawing/2014/main" id="{2E2DA818-9CB0-FE7C-92AB-1F7160270104}"/>
              </a:ext>
            </a:extLst>
          </p:cNvPr>
          <p:cNvSpPr txBox="1"/>
          <p:nvPr/>
        </p:nvSpPr>
        <p:spPr>
          <a:xfrm>
            <a:off x="3310800" y="18282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number, with no explanation of which skill is weak or why.</a:t>
            </a:r>
            <a:endParaRPr lang="en-US" sz="88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56D3E52F-9FB1-CE21-4701-ACF2F28341F5}"/>
              </a:ext>
            </a:extLst>
          </p:cNvPr>
          <p:cNvSpPr txBox="1"/>
          <p:nvPr/>
        </p:nvSpPr>
        <p:spPr>
          <a:xfrm>
            <a:off x="6378216" y="18282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keyword matching, not matched to the actual competency gap.</a:t>
            </a:r>
            <a:endParaRPr lang="en-US" sz="880" dirty="0"/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F0063AE8-D851-3089-7AD0-CC61757CF842}"/>
              </a:ext>
            </a:extLst>
          </p:cNvPr>
          <p:cNvSpPr txBox="1"/>
          <p:nvPr/>
        </p:nvSpPr>
        <p:spPr>
          <a:xfrm>
            <a:off x="9445632" y="182217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8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and learning stay disconnected — no assess → learn → retest cycle.</a:t>
            </a:r>
            <a:endParaRPr lang="en-US" sz="88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C54A7DC7-CCA6-C9E9-D32A-9440C3905808}"/>
              </a:ext>
            </a:extLst>
          </p:cNvPr>
          <p:cNvSpPr txBox="1"/>
          <p:nvPr/>
        </p:nvSpPr>
        <p:spPr>
          <a:xfrm>
            <a:off x="716190" y="25671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LOOP — THE CORE IDEA</a:t>
            </a:r>
            <a:endParaRPr lang="en-US" sz="115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7ABD7C6C-91E4-CD3D-03F5-BE81F3D46F35}"/>
              </a:ext>
            </a:extLst>
          </p:cNvPr>
          <p:cNvSpPr/>
          <p:nvPr/>
        </p:nvSpPr>
        <p:spPr>
          <a:xfrm>
            <a:off x="716190" y="2868944"/>
            <a:ext cx="1627632" cy="566928"/>
          </a:xfrm>
          <a:prstGeom prst="roundRect">
            <a:avLst>
              <a:gd name="adj" fmla="val 14516"/>
            </a:avLst>
          </a:prstGeom>
          <a:solidFill>
            <a:srgbClr val="16233F"/>
          </a:solidFill>
          <a:ln/>
        </p:spPr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2824C7D5-D25A-8C90-898C-0251A1F3E861}"/>
              </a:ext>
            </a:extLst>
          </p:cNvPr>
          <p:cNvSpPr txBox="1"/>
          <p:nvPr/>
        </p:nvSpPr>
        <p:spPr>
          <a:xfrm>
            <a:off x="761910" y="286894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</a:t>
            </a:r>
            <a:endParaRPr lang="en-US" sz="1100" dirty="0"/>
          </a:p>
        </p:txBody>
      </p:sp>
      <p:sp>
        <p:nvSpPr>
          <p:cNvPr id="26" name="Text 20">
            <a:extLst>
              <a:ext uri="{FF2B5EF4-FFF2-40B4-BE49-F238E27FC236}">
                <a16:creationId xmlns:a16="http://schemas.microsoft.com/office/drawing/2014/main" id="{A941F861-1A55-41A2-1A64-E85E59089043}"/>
              </a:ext>
            </a:extLst>
          </p:cNvPr>
          <p:cNvSpPr txBox="1"/>
          <p:nvPr/>
        </p:nvSpPr>
        <p:spPr>
          <a:xfrm>
            <a:off x="2343822" y="2878088"/>
            <a:ext cx="123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7" name="Shape 21">
            <a:extLst>
              <a:ext uri="{FF2B5EF4-FFF2-40B4-BE49-F238E27FC236}">
                <a16:creationId xmlns:a16="http://schemas.microsoft.com/office/drawing/2014/main" id="{4714DA6C-E1A8-791A-22AD-269DD7196C9F}"/>
              </a:ext>
            </a:extLst>
          </p:cNvPr>
          <p:cNvSpPr/>
          <p:nvPr/>
        </p:nvSpPr>
        <p:spPr>
          <a:xfrm>
            <a:off x="2467266" y="2868944"/>
            <a:ext cx="1627632" cy="566928"/>
          </a:xfrm>
          <a:prstGeom prst="roundRect">
            <a:avLst>
              <a:gd name="adj" fmla="val 14516"/>
            </a:avLst>
          </a:prstGeom>
          <a:solidFill>
            <a:srgbClr val="16233F"/>
          </a:solidFill>
          <a:ln/>
        </p:spPr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D406BD43-C771-BC9B-C65C-0EFBD0FA15F9}"/>
              </a:ext>
            </a:extLst>
          </p:cNvPr>
          <p:cNvSpPr txBox="1"/>
          <p:nvPr/>
        </p:nvSpPr>
        <p:spPr>
          <a:xfrm>
            <a:off x="2512986" y="286894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GAP</a:t>
            </a:r>
            <a:endParaRPr lang="en-US" sz="11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60816DEA-1F4E-11CD-DF12-265BFD52F519}"/>
              </a:ext>
            </a:extLst>
          </p:cNvPr>
          <p:cNvSpPr txBox="1"/>
          <p:nvPr/>
        </p:nvSpPr>
        <p:spPr>
          <a:xfrm>
            <a:off x="4094898" y="2878088"/>
            <a:ext cx="123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2D43C266-26D2-47A8-C356-7CAC478A0C18}"/>
              </a:ext>
            </a:extLst>
          </p:cNvPr>
          <p:cNvSpPr/>
          <p:nvPr/>
        </p:nvSpPr>
        <p:spPr>
          <a:xfrm>
            <a:off x="4218342" y="2868944"/>
            <a:ext cx="1627632" cy="566928"/>
          </a:xfrm>
          <a:prstGeom prst="roundRect">
            <a:avLst>
              <a:gd name="adj" fmla="val 14516"/>
            </a:avLst>
          </a:prstGeom>
          <a:solidFill>
            <a:srgbClr val="16233F"/>
          </a:solidFill>
          <a:ln/>
        </p:spPr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FA0C82E4-CE54-041C-ABCC-A39AB9D6C43E}"/>
              </a:ext>
            </a:extLst>
          </p:cNvPr>
          <p:cNvSpPr txBox="1"/>
          <p:nvPr/>
        </p:nvSpPr>
        <p:spPr>
          <a:xfrm>
            <a:off x="4264062" y="286894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10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B38B2BD2-A06D-34AD-B437-2D333DCD5346}"/>
              </a:ext>
            </a:extLst>
          </p:cNvPr>
          <p:cNvSpPr txBox="1"/>
          <p:nvPr/>
        </p:nvSpPr>
        <p:spPr>
          <a:xfrm>
            <a:off x="5845974" y="2878088"/>
            <a:ext cx="123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FBB1EACC-BBD7-7150-2AB6-8C71610F0698}"/>
              </a:ext>
            </a:extLst>
          </p:cNvPr>
          <p:cNvSpPr/>
          <p:nvPr/>
        </p:nvSpPr>
        <p:spPr>
          <a:xfrm>
            <a:off x="5969418" y="2868944"/>
            <a:ext cx="1627632" cy="566928"/>
          </a:xfrm>
          <a:prstGeom prst="roundRect">
            <a:avLst>
              <a:gd name="adj" fmla="val 14516"/>
            </a:avLst>
          </a:prstGeom>
          <a:solidFill>
            <a:srgbClr val="16233F"/>
          </a:solidFill>
          <a:ln/>
        </p:spPr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BA149C5E-6D86-A1D3-6E5B-D84967359589}"/>
              </a:ext>
            </a:extLst>
          </p:cNvPr>
          <p:cNvSpPr txBox="1"/>
          <p:nvPr/>
        </p:nvSpPr>
        <p:spPr>
          <a:xfrm>
            <a:off x="6015138" y="286894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100" dirty="0"/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92911D1F-322C-1D65-2E9B-F31AC313D919}"/>
              </a:ext>
            </a:extLst>
          </p:cNvPr>
          <p:cNvSpPr txBox="1"/>
          <p:nvPr/>
        </p:nvSpPr>
        <p:spPr>
          <a:xfrm>
            <a:off x="7597050" y="2878088"/>
            <a:ext cx="123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27912D1A-C39F-9B08-0C03-4C94F8629201}"/>
              </a:ext>
            </a:extLst>
          </p:cNvPr>
          <p:cNvSpPr/>
          <p:nvPr/>
        </p:nvSpPr>
        <p:spPr>
          <a:xfrm>
            <a:off x="7720494" y="2868944"/>
            <a:ext cx="1627632" cy="566928"/>
          </a:xfrm>
          <a:prstGeom prst="roundRect">
            <a:avLst>
              <a:gd name="adj" fmla="val 14516"/>
            </a:avLst>
          </a:prstGeom>
          <a:solidFill>
            <a:srgbClr val="16233F"/>
          </a:solidFill>
          <a:ln/>
        </p:spPr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2A6EE5C7-3F5E-1030-B633-D7231D88F142}"/>
              </a:ext>
            </a:extLst>
          </p:cNvPr>
          <p:cNvSpPr txBox="1"/>
          <p:nvPr/>
        </p:nvSpPr>
        <p:spPr>
          <a:xfrm>
            <a:off x="7766214" y="286894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10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241D6D2A-F7C3-C22C-78CD-D2CB1E13B53B}"/>
              </a:ext>
            </a:extLst>
          </p:cNvPr>
          <p:cNvSpPr txBox="1"/>
          <p:nvPr/>
        </p:nvSpPr>
        <p:spPr>
          <a:xfrm>
            <a:off x="9348126" y="2878088"/>
            <a:ext cx="1234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F6904288-072E-2A00-02A0-EB7054E44C33}"/>
              </a:ext>
            </a:extLst>
          </p:cNvPr>
          <p:cNvSpPr/>
          <p:nvPr/>
        </p:nvSpPr>
        <p:spPr>
          <a:xfrm>
            <a:off x="9471570" y="2868944"/>
            <a:ext cx="1627632" cy="566928"/>
          </a:xfrm>
          <a:prstGeom prst="roundRect">
            <a:avLst>
              <a:gd name="adj" fmla="val 14516"/>
            </a:avLst>
          </a:prstGeom>
          <a:solidFill>
            <a:srgbClr val="B4690E"/>
          </a:solidFill>
          <a:ln/>
        </p:spPr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35FAC2A5-DDE2-7535-3C42-D07A56E31D37}"/>
              </a:ext>
            </a:extLst>
          </p:cNvPr>
          <p:cNvSpPr txBox="1"/>
          <p:nvPr/>
        </p:nvSpPr>
        <p:spPr>
          <a:xfrm>
            <a:off x="9517290" y="2868944"/>
            <a:ext cx="1536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</a:t>
            </a:r>
            <a:endParaRPr lang="en-US" sz="1100" dirty="0"/>
          </a:p>
        </p:txBody>
      </p:sp>
      <p:sp>
        <p:nvSpPr>
          <p:cNvPr id="41" name="Shape 35">
            <a:extLst>
              <a:ext uri="{FF2B5EF4-FFF2-40B4-BE49-F238E27FC236}">
                <a16:creationId xmlns:a16="http://schemas.microsoft.com/office/drawing/2014/main" id="{5A5AD1C4-DAC9-CB8B-C8EF-6FE47701A09B}"/>
              </a:ext>
            </a:extLst>
          </p:cNvPr>
          <p:cNvSpPr/>
          <p:nvPr/>
        </p:nvSpPr>
        <p:spPr>
          <a:xfrm>
            <a:off x="10285386" y="3435872"/>
            <a:ext cx="0" cy="201168"/>
          </a:xfrm>
          <a:prstGeom prst="line">
            <a:avLst/>
          </a:prstGeom>
          <a:noFill/>
          <a:ln w="19050">
            <a:solidFill>
              <a:srgbClr val="B4690E"/>
            </a:solidFill>
            <a:prstDash val="solid"/>
          </a:ln>
        </p:spPr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8E57529D-BA15-1ADA-9554-FAD2F803E94F}"/>
              </a:ext>
            </a:extLst>
          </p:cNvPr>
          <p:cNvSpPr/>
          <p:nvPr/>
        </p:nvSpPr>
        <p:spPr>
          <a:xfrm>
            <a:off x="1530006" y="3637040"/>
            <a:ext cx="8755380" cy="0"/>
          </a:xfrm>
          <a:prstGeom prst="line">
            <a:avLst/>
          </a:prstGeom>
          <a:noFill/>
          <a:ln w="19050">
            <a:solidFill>
              <a:srgbClr val="B4690E"/>
            </a:solidFill>
            <a:prstDash val="solid"/>
          </a:ln>
        </p:spPr>
      </p:sp>
      <p:sp>
        <p:nvSpPr>
          <p:cNvPr id="43" name="Shape 37">
            <a:extLst>
              <a:ext uri="{FF2B5EF4-FFF2-40B4-BE49-F238E27FC236}">
                <a16:creationId xmlns:a16="http://schemas.microsoft.com/office/drawing/2014/main" id="{2DBB7E2F-2FCA-3A85-04A0-6840FD744717}"/>
              </a:ext>
            </a:extLst>
          </p:cNvPr>
          <p:cNvSpPr/>
          <p:nvPr/>
        </p:nvSpPr>
        <p:spPr>
          <a:xfrm>
            <a:off x="1530006" y="3435872"/>
            <a:ext cx="0" cy="201168"/>
          </a:xfrm>
          <a:prstGeom prst="line">
            <a:avLst/>
          </a:prstGeom>
          <a:noFill/>
          <a:ln w="19050">
            <a:solidFill>
              <a:srgbClr val="B4690E"/>
            </a:solidFill>
            <a:prstDash val="solid"/>
            <a:tailEnd type="triangle"/>
          </a:ln>
        </p:spPr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75A150-A00F-58EB-0836-7321277C8E00}"/>
              </a:ext>
            </a:extLst>
          </p:cNvPr>
          <p:cNvSpPr txBox="1"/>
          <p:nvPr/>
        </p:nvSpPr>
        <p:spPr>
          <a:xfrm>
            <a:off x="2910024" y="3435872"/>
            <a:ext cx="6118788" cy="223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B46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loop — reassess feeds straight back into assess</a:t>
            </a:r>
            <a:endParaRPr lang="en-US" sz="850" dirty="0"/>
          </a:p>
        </p:txBody>
      </p:sp>
      <p:sp>
        <p:nvSpPr>
          <p:cNvPr id="46" name="Text 39">
            <a:extLst>
              <a:ext uri="{FF2B5EF4-FFF2-40B4-BE49-F238E27FC236}">
                <a16:creationId xmlns:a16="http://schemas.microsoft.com/office/drawing/2014/main" id="{E5611AAA-5BC6-748D-33EC-C952390E218D}"/>
              </a:ext>
            </a:extLst>
          </p:cNvPr>
          <p:cNvSpPr txBox="1"/>
          <p:nvPr/>
        </p:nvSpPr>
        <p:spPr>
          <a:xfrm>
            <a:off x="421296" y="372622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DIFFERENT</a:t>
            </a:r>
            <a:endParaRPr lang="en-US" sz="1150" dirty="0"/>
          </a:p>
        </p:txBody>
      </p:sp>
      <p:sp>
        <p:nvSpPr>
          <p:cNvPr id="47" name="Shape 40">
            <a:extLst>
              <a:ext uri="{FF2B5EF4-FFF2-40B4-BE49-F238E27FC236}">
                <a16:creationId xmlns:a16="http://schemas.microsoft.com/office/drawing/2014/main" id="{AA8B45E4-58FA-EBBC-75CC-6BDB8DCA1DD7}"/>
              </a:ext>
            </a:extLst>
          </p:cNvPr>
          <p:cNvSpPr/>
          <p:nvPr/>
        </p:nvSpPr>
        <p:spPr>
          <a:xfrm>
            <a:off x="421296" y="4018832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blurRad="76200" dist="25400" dir="5400000" algn="bl" rotWithShape="0">
              <a:srgbClr val="1B2338">
                <a:alpha val="18000"/>
              </a:srgbClr>
            </a:outerShdw>
          </a:effectLst>
        </p:spPr>
      </p:sp>
      <p:sp>
        <p:nvSpPr>
          <p:cNvPr id="48" name="Shape 41">
            <a:extLst>
              <a:ext uri="{FF2B5EF4-FFF2-40B4-BE49-F238E27FC236}">
                <a16:creationId xmlns:a16="http://schemas.microsoft.com/office/drawing/2014/main" id="{AE606220-E6DD-F9B7-C9E6-CD8284953B7B}"/>
              </a:ext>
            </a:extLst>
          </p:cNvPr>
          <p:cNvSpPr/>
          <p:nvPr/>
        </p:nvSpPr>
        <p:spPr>
          <a:xfrm>
            <a:off x="585888" y="4183424"/>
            <a:ext cx="457200" cy="73152"/>
          </a:xfrm>
          <a:prstGeom prst="roundRect">
            <a:avLst>
              <a:gd name="adj" fmla="val 50000"/>
            </a:avLst>
          </a:prstGeom>
          <a:solidFill>
            <a:srgbClr val="0E6F6A"/>
          </a:solidFill>
          <a:ln/>
        </p:spPr>
      </p:sp>
      <p:sp>
        <p:nvSpPr>
          <p:cNvPr id="49" name="Text 42">
            <a:extLst>
              <a:ext uri="{FF2B5EF4-FFF2-40B4-BE49-F238E27FC236}">
                <a16:creationId xmlns:a16="http://schemas.microsoft.com/office/drawing/2014/main" id="{71A28183-C0FF-3A16-F069-39775AA95B41}"/>
              </a:ext>
            </a:extLst>
          </p:cNvPr>
          <p:cNvSpPr txBox="1"/>
          <p:nvPr/>
        </p:nvSpPr>
        <p:spPr>
          <a:xfrm>
            <a:off x="585888" y="4348016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Living Competency Profile</a:t>
            </a:r>
            <a:endParaRPr lang="en-US" sz="1450" dirty="0"/>
          </a:p>
        </p:txBody>
      </p:sp>
      <p:sp>
        <p:nvSpPr>
          <p:cNvPr id="50" name="Text 43">
            <a:extLst>
              <a:ext uri="{FF2B5EF4-FFF2-40B4-BE49-F238E27FC236}">
                <a16:creationId xmlns:a16="http://schemas.microsoft.com/office/drawing/2014/main" id="{36BBB080-E5CC-B683-1BED-983EA88B2AC5}"/>
              </a:ext>
            </a:extLst>
          </p:cNvPr>
          <p:cNvSpPr txBox="1"/>
          <p:nvPr/>
        </p:nvSpPr>
        <p:spPr>
          <a:xfrm>
            <a:off x="585888" y="4860080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Auto-updates after every course — never a stale one-time certificate.</a:t>
            </a:r>
            <a:endParaRPr lang="en-US" sz="1000" dirty="0"/>
          </a:p>
        </p:txBody>
      </p:sp>
      <p:sp>
        <p:nvSpPr>
          <p:cNvPr id="51" name="Shape 44">
            <a:extLst>
              <a:ext uri="{FF2B5EF4-FFF2-40B4-BE49-F238E27FC236}">
                <a16:creationId xmlns:a16="http://schemas.microsoft.com/office/drawing/2014/main" id="{902205CC-176F-9BFE-2D20-829D274A7939}"/>
              </a:ext>
            </a:extLst>
          </p:cNvPr>
          <p:cNvSpPr/>
          <p:nvPr/>
        </p:nvSpPr>
        <p:spPr>
          <a:xfrm>
            <a:off x="4243488" y="4018832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blurRad="76200" dist="25400" dir="5400000" algn="bl" rotWithShape="0">
              <a:srgbClr val="1B2338">
                <a:alpha val="18000"/>
              </a:srgbClr>
            </a:outerShdw>
          </a:effectLst>
        </p:spPr>
      </p:sp>
      <p:sp>
        <p:nvSpPr>
          <p:cNvPr id="52" name="Shape 45">
            <a:extLst>
              <a:ext uri="{FF2B5EF4-FFF2-40B4-BE49-F238E27FC236}">
                <a16:creationId xmlns:a16="http://schemas.microsoft.com/office/drawing/2014/main" id="{DCF32C2D-6E3E-5D11-5AB7-C40AA568B198}"/>
              </a:ext>
            </a:extLst>
          </p:cNvPr>
          <p:cNvSpPr/>
          <p:nvPr/>
        </p:nvSpPr>
        <p:spPr>
          <a:xfrm>
            <a:off x="4408080" y="4183424"/>
            <a:ext cx="457200" cy="73152"/>
          </a:xfrm>
          <a:prstGeom prst="roundRect">
            <a:avLst>
              <a:gd name="adj" fmla="val 50000"/>
            </a:avLst>
          </a:prstGeom>
          <a:solidFill>
            <a:srgbClr val="16233F"/>
          </a:solidFill>
          <a:ln/>
        </p:spPr>
      </p:sp>
      <p:sp>
        <p:nvSpPr>
          <p:cNvPr id="53" name="Text 46">
            <a:extLst>
              <a:ext uri="{FF2B5EF4-FFF2-40B4-BE49-F238E27FC236}">
                <a16:creationId xmlns:a16="http://schemas.microsoft.com/office/drawing/2014/main" id="{167392EC-C3DC-C6CF-FAE1-55C4D2A3F0AE}"/>
              </a:ext>
            </a:extLst>
          </p:cNvPr>
          <p:cNvSpPr txBox="1"/>
          <p:nvPr/>
        </p:nvSpPr>
        <p:spPr>
          <a:xfrm>
            <a:off x="4408080" y="4348016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Gap Engine</a:t>
            </a:r>
            <a:endParaRPr lang="en-US" sz="1450" dirty="0"/>
          </a:p>
        </p:txBody>
      </p:sp>
      <p:sp>
        <p:nvSpPr>
          <p:cNvPr id="54" name="Text 47">
            <a:extLst>
              <a:ext uri="{FF2B5EF4-FFF2-40B4-BE49-F238E27FC236}">
                <a16:creationId xmlns:a16="http://schemas.microsoft.com/office/drawing/2014/main" id="{66E92FEA-2FB2-8F50-268D-F94F06FEE0D6}"/>
              </a:ext>
            </a:extLst>
          </p:cNvPr>
          <p:cNvSpPr txBox="1"/>
          <p:nvPr/>
        </p:nvSpPr>
        <p:spPr>
          <a:xfrm>
            <a:off x="4408080" y="4860080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which competency is weak and why — not a black-box number.</a:t>
            </a:r>
            <a:endParaRPr lang="en-US" sz="1000" dirty="0"/>
          </a:p>
        </p:txBody>
      </p:sp>
      <p:sp>
        <p:nvSpPr>
          <p:cNvPr id="55" name="Shape 48">
            <a:extLst>
              <a:ext uri="{FF2B5EF4-FFF2-40B4-BE49-F238E27FC236}">
                <a16:creationId xmlns:a16="http://schemas.microsoft.com/office/drawing/2014/main" id="{C2FAE673-C93E-240E-4ADB-CB4F51B3E061}"/>
              </a:ext>
            </a:extLst>
          </p:cNvPr>
          <p:cNvSpPr/>
          <p:nvPr/>
        </p:nvSpPr>
        <p:spPr>
          <a:xfrm>
            <a:off x="8065680" y="4018832"/>
            <a:ext cx="3639312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  <a:effectLst>
            <a:outerShdw blurRad="76200" dist="25400" dir="5400000" algn="bl" rotWithShape="0">
              <a:srgbClr val="1B2338">
                <a:alpha val="18000"/>
              </a:srgbClr>
            </a:outerShdw>
          </a:effectLst>
        </p:spPr>
      </p:sp>
      <p:sp>
        <p:nvSpPr>
          <p:cNvPr id="56" name="Shape 49">
            <a:extLst>
              <a:ext uri="{FF2B5EF4-FFF2-40B4-BE49-F238E27FC236}">
                <a16:creationId xmlns:a16="http://schemas.microsoft.com/office/drawing/2014/main" id="{F7E62E78-DD39-FC48-1462-7C15463B18B3}"/>
              </a:ext>
            </a:extLst>
          </p:cNvPr>
          <p:cNvSpPr/>
          <p:nvPr/>
        </p:nvSpPr>
        <p:spPr>
          <a:xfrm>
            <a:off x="8230272" y="4183424"/>
            <a:ext cx="457200" cy="73152"/>
          </a:xfrm>
          <a:prstGeom prst="roundRect">
            <a:avLst>
              <a:gd name="adj" fmla="val 50000"/>
            </a:avLst>
          </a:prstGeom>
          <a:solidFill>
            <a:srgbClr val="B4690E"/>
          </a:solidFill>
          <a:ln/>
        </p:spPr>
      </p:sp>
      <p:sp>
        <p:nvSpPr>
          <p:cNvPr id="57" name="Text 50">
            <a:extLst>
              <a:ext uri="{FF2B5EF4-FFF2-40B4-BE49-F238E27FC236}">
                <a16:creationId xmlns:a16="http://schemas.microsoft.com/office/drawing/2014/main" id="{2BBBB1E3-31B8-E750-E12B-5C4DEFD7B945}"/>
              </a:ext>
            </a:extLst>
          </p:cNvPr>
          <p:cNvSpPr txBox="1"/>
          <p:nvPr/>
        </p:nvSpPr>
        <p:spPr>
          <a:xfrm>
            <a:off x="8230272" y="4348016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Closed-Loop Personalisation</a:t>
            </a:r>
            <a:endParaRPr lang="en-US" sz="1450" dirty="0"/>
          </a:p>
        </p:txBody>
      </p:sp>
      <p:sp>
        <p:nvSpPr>
          <p:cNvPr id="58" name="Text 51">
            <a:extLst>
              <a:ext uri="{FF2B5EF4-FFF2-40B4-BE49-F238E27FC236}">
                <a16:creationId xmlns:a16="http://schemas.microsoft.com/office/drawing/2014/main" id="{E813A7EB-EEBE-7BAC-79E7-FFBE414F73C1}"/>
              </a:ext>
            </a:extLst>
          </p:cNvPr>
          <p:cNvSpPr txBox="1"/>
          <p:nvPr/>
        </p:nvSpPr>
        <p:spPr>
          <a:xfrm>
            <a:off x="8230272" y="4860080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Unifies assess → learn → test → reassess in one continuous system.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" y="-305370"/>
            <a:ext cx="12191998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56314" y="1281219"/>
            <a:ext cx="5920426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49" y="-29593"/>
            <a:ext cx="2249850" cy="1062337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29FC1197-6396-B7F9-95E3-A935F6DFC740}"/>
              </a:ext>
            </a:extLst>
          </p:cNvPr>
          <p:cNvSpPr/>
          <p:nvPr/>
        </p:nvSpPr>
        <p:spPr>
          <a:xfrm>
            <a:off x="256314" y="1281219"/>
            <a:ext cx="6309360" cy="402336"/>
          </a:xfrm>
          <a:prstGeom prst="roundRect">
            <a:avLst>
              <a:gd name="adj" fmla="val 20455"/>
            </a:avLst>
          </a:prstGeom>
          <a:solidFill>
            <a:srgbClr val="3C47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0ABB28C6-8355-8579-BB90-367EDE366CF4}"/>
              </a:ext>
            </a:extLst>
          </p:cNvPr>
          <p:cNvSpPr txBox="1"/>
          <p:nvPr/>
        </p:nvSpPr>
        <p:spPr>
          <a:xfrm>
            <a:off x="302034" y="1281219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OFFICIAL</a:t>
            </a:r>
            <a:endParaRPr lang="en-US" sz="1100" dirty="0"/>
          </a:p>
        </p:txBody>
      </p:sp>
      <p:sp>
        <p:nvSpPr>
          <p:cNvPr id="14" name="Shape 6">
            <a:extLst>
              <a:ext uri="{FF2B5EF4-FFF2-40B4-BE49-F238E27FC236}">
                <a16:creationId xmlns:a16="http://schemas.microsoft.com/office/drawing/2014/main" id="{CC5376A7-A0D2-5ADE-4D6B-194212FEAAE8}"/>
              </a:ext>
            </a:extLst>
          </p:cNvPr>
          <p:cNvSpPr/>
          <p:nvPr/>
        </p:nvSpPr>
        <p:spPr>
          <a:xfrm>
            <a:off x="3410994" y="1683555"/>
            <a:ext cx="0" cy="18288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06708CD1-A171-86CD-9D54-6E9A4A70CBC7}"/>
              </a:ext>
            </a:extLst>
          </p:cNvPr>
          <p:cNvSpPr/>
          <p:nvPr/>
        </p:nvSpPr>
        <p:spPr>
          <a:xfrm>
            <a:off x="256314" y="1825287"/>
            <a:ext cx="6309360" cy="402336"/>
          </a:xfrm>
          <a:prstGeom prst="roundRect">
            <a:avLst>
              <a:gd name="adj" fmla="val 20455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76835D5-7ADF-4116-5F33-303EAE410402}"/>
              </a:ext>
            </a:extLst>
          </p:cNvPr>
          <p:cNvSpPr txBox="1"/>
          <p:nvPr/>
        </p:nvSpPr>
        <p:spPr>
          <a:xfrm>
            <a:off x="302034" y="1941816"/>
            <a:ext cx="621792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COLLECTION</a:t>
            </a:r>
            <a:endParaRPr lang="en-US" sz="11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B36FBFA0-E2F1-F6EF-3155-2E0D7829EC84}"/>
              </a:ext>
            </a:extLst>
          </p:cNvPr>
          <p:cNvSpPr/>
          <p:nvPr/>
        </p:nvSpPr>
        <p:spPr>
          <a:xfrm>
            <a:off x="3410994" y="2227623"/>
            <a:ext cx="0" cy="18288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20A6075B-E9D3-7D0A-B5F3-536A525A1629}"/>
              </a:ext>
            </a:extLst>
          </p:cNvPr>
          <p:cNvSpPr/>
          <p:nvPr/>
        </p:nvSpPr>
        <p:spPr>
          <a:xfrm>
            <a:off x="256314" y="2369355"/>
            <a:ext cx="6309360" cy="402336"/>
          </a:xfrm>
          <a:prstGeom prst="roundRect">
            <a:avLst>
              <a:gd name="adj" fmla="val 20455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1">
            <a:extLst>
              <a:ext uri="{FF2B5EF4-FFF2-40B4-BE49-F238E27FC236}">
                <a16:creationId xmlns:a16="http://schemas.microsoft.com/office/drawing/2014/main" id="{BB6FFBD4-B246-9CF0-A480-85F80C3F112D}"/>
              </a:ext>
            </a:extLst>
          </p:cNvPr>
          <p:cNvSpPr txBox="1"/>
          <p:nvPr/>
        </p:nvSpPr>
        <p:spPr>
          <a:xfrm>
            <a:off x="302034" y="2485884"/>
            <a:ext cx="621792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ASSESSMENT</a:t>
            </a:r>
            <a:endParaRPr lang="en-US" sz="1100" dirty="0"/>
          </a:p>
        </p:txBody>
      </p:sp>
      <p:sp>
        <p:nvSpPr>
          <p:cNvPr id="21" name="Shape 12">
            <a:extLst>
              <a:ext uri="{FF2B5EF4-FFF2-40B4-BE49-F238E27FC236}">
                <a16:creationId xmlns:a16="http://schemas.microsoft.com/office/drawing/2014/main" id="{1F8732E9-022D-31F7-0229-143CF7B0A197}"/>
              </a:ext>
            </a:extLst>
          </p:cNvPr>
          <p:cNvSpPr/>
          <p:nvPr/>
        </p:nvSpPr>
        <p:spPr>
          <a:xfrm>
            <a:off x="3410994" y="2771691"/>
            <a:ext cx="0" cy="18288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F9ECFF1B-B892-CA84-9D78-04CFE46BF0A3}"/>
              </a:ext>
            </a:extLst>
          </p:cNvPr>
          <p:cNvSpPr/>
          <p:nvPr/>
        </p:nvSpPr>
        <p:spPr>
          <a:xfrm>
            <a:off x="256314" y="2913423"/>
            <a:ext cx="6309360" cy="402336"/>
          </a:xfrm>
          <a:prstGeom prst="roundRect">
            <a:avLst>
              <a:gd name="adj" fmla="val 20455"/>
            </a:avLst>
          </a:prstGeom>
          <a:solidFill>
            <a:srgbClr val="0E6F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26562AD0-B5DE-461B-C48E-235B007F3FC6}"/>
              </a:ext>
            </a:extLst>
          </p:cNvPr>
          <p:cNvSpPr txBox="1"/>
          <p:nvPr/>
        </p:nvSpPr>
        <p:spPr>
          <a:xfrm>
            <a:off x="302034" y="2913423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COMPETENCY ENGINE</a:t>
            </a:r>
            <a:endParaRPr lang="en-US" sz="1100" dirty="0"/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2E295609-E4F6-E8D0-591B-818EDC54F98E}"/>
              </a:ext>
            </a:extLst>
          </p:cNvPr>
          <p:cNvSpPr/>
          <p:nvPr/>
        </p:nvSpPr>
        <p:spPr>
          <a:xfrm>
            <a:off x="3410994" y="3361479"/>
            <a:ext cx="0" cy="137160"/>
          </a:xfrm>
          <a:prstGeom prst="line">
            <a:avLst/>
          </a:prstGeom>
          <a:noFill/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16">
            <a:extLst>
              <a:ext uri="{FF2B5EF4-FFF2-40B4-BE49-F238E27FC236}">
                <a16:creationId xmlns:a16="http://schemas.microsoft.com/office/drawing/2014/main" id="{85B754C2-78BF-FDE7-BFF9-EE88B4E9F791}"/>
              </a:ext>
            </a:extLst>
          </p:cNvPr>
          <p:cNvSpPr/>
          <p:nvPr/>
        </p:nvSpPr>
        <p:spPr>
          <a:xfrm>
            <a:off x="256314" y="3498639"/>
            <a:ext cx="1993392" cy="365760"/>
          </a:xfrm>
          <a:prstGeom prst="roundRect">
            <a:avLst>
              <a:gd name="adj" fmla="val 22500"/>
            </a:avLst>
          </a:prstGeom>
          <a:solidFill>
            <a:srgbClr val="5594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17">
            <a:extLst>
              <a:ext uri="{FF2B5EF4-FFF2-40B4-BE49-F238E27FC236}">
                <a16:creationId xmlns:a16="http://schemas.microsoft.com/office/drawing/2014/main" id="{B795BA14-A6CF-7AE1-3FED-5C6EB9818573}"/>
              </a:ext>
            </a:extLst>
          </p:cNvPr>
          <p:cNvSpPr txBox="1"/>
          <p:nvPr/>
        </p:nvSpPr>
        <p:spPr>
          <a:xfrm>
            <a:off x="302034" y="3498639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MAP</a:t>
            </a:r>
            <a:endParaRPr lang="en-US" sz="980" dirty="0"/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F977548D-CC67-28A0-0A6F-CEB6070127DD}"/>
              </a:ext>
            </a:extLst>
          </p:cNvPr>
          <p:cNvSpPr/>
          <p:nvPr/>
        </p:nvSpPr>
        <p:spPr>
          <a:xfrm>
            <a:off x="3410994" y="3361479"/>
            <a:ext cx="0" cy="137160"/>
          </a:xfrm>
          <a:prstGeom prst="line">
            <a:avLst/>
          </a:prstGeom>
          <a:noFill/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B043C6AB-08E8-FCFF-4B4C-610D5A57EE8C}"/>
              </a:ext>
            </a:extLst>
          </p:cNvPr>
          <p:cNvSpPr/>
          <p:nvPr/>
        </p:nvSpPr>
        <p:spPr>
          <a:xfrm>
            <a:off x="2368578" y="3498639"/>
            <a:ext cx="1993392" cy="365760"/>
          </a:xfrm>
          <a:prstGeom prst="roundRect">
            <a:avLst>
              <a:gd name="adj" fmla="val 22500"/>
            </a:avLst>
          </a:prstGeom>
          <a:solidFill>
            <a:srgbClr val="5594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ECF11360-2F01-4509-D379-94C40D5BFF65}"/>
              </a:ext>
            </a:extLst>
          </p:cNvPr>
          <p:cNvSpPr txBox="1"/>
          <p:nvPr/>
        </p:nvSpPr>
        <p:spPr>
          <a:xfrm>
            <a:off x="2414298" y="3498639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ENGINE</a:t>
            </a:r>
            <a:endParaRPr lang="en-US" sz="980" dirty="0"/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D81BFF6C-9DF0-D294-7F31-EE5AE2E16618}"/>
              </a:ext>
            </a:extLst>
          </p:cNvPr>
          <p:cNvSpPr/>
          <p:nvPr/>
        </p:nvSpPr>
        <p:spPr>
          <a:xfrm>
            <a:off x="3410994" y="3361479"/>
            <a:ext cx="2066544" cy="137160"/>
          </a:xfrm>
          <a:prstGeom prst="line">
            <a:avLst/>
          </a:prstGeom>
          <a:noFill/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Shape 22">
            <a:extLst>
              <a:ext uri="{FF2B5EF4-FFF2-40B4-BE49-F238E27FC236}">
                <a16:creationId xmlns:a16="http://schemas.microsoft.com/office/drawing/2014/main" id="{48CB90A4-39DD-FECF-A3D1-233E54CFBE83}"/>
              </a:ext>
            </a:extLst>
          </p:cNvPr>
          <p:cNvSpPr/>
          <p:nvPr/>
        </p:nvSpPr>
        <p:spPr>
          <a:xfrm>
            <a:off x="4480842" y="3498639"/>
            <a:ext cx="1993392" cy="365760"/>
          </a:xfrm>
          <a:prstGeom prst="roundRect">
            <a:avLst>
              <a:gd name="adj" fmla="val 22500"/>
            </a:avLst>
          </a:prstGeom>
          <a:solidFill>
            <a:srgbClr val="5594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23">
            <a:extLst>
              <a:ext uri="{FF2B5EF4-FFF2-40B4-BE49-F238E27FC236}">
                <a16:creationId xmlns:a16="http://schemas.microsoft.com/office/drawing/2014/main" id="{A99C2CF1-DD39-BB05-3C5B-3227AF6AB62C}"/>
              </a:ext>
            </a:extLst>
          </p:cNvPr>
          <p:cNvSpPr txBox="1"/>
          <p:nvPr/>
        </p:nvSpPr>
        <p:spPr>
          <a:xfrm>
            <a:off x="4526562" y="3530708"/>
            <a:ext cx="1901952" cy="3016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 ENGINE</a:t>
            </a:r>
          </a:p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ea typeface="Calibri" pitchFamily="34" charset="-122"/>
                <a:cs typeface="Calibri" pitchFamily="34" charset="-120"/>
              </a:rPr>
              <a:t>(Human review system)</a:t>
            </a:r>
            <a:endParaRPr lang="en-US" sz="980" dirty="0"/>
          </a:p>
        </p:txBody>
      </p:sp>
      <p:sp>
        <p:nvSpPr>
          <p:cNvPr id="33" name="Shape 24">
            <a:extLst>
              <a:ext uri="{FF2B5EF4-FFF2-40B4-BE49-F238E27FC236}">
                <a16:creationId xmlns:a16="http://schemas.microsoft.com/office/drawing/2014/main" id="{A4BC05EA-3ED7-69D0-23B6-E6AEF13572EB}"/>
              </a:ext>
            </a:extLst>
          </p:cNvPr>
          <p:cNvSpPr/>
          <p:nvPr/>
        </p:nvSpPr>
        <p:spPr>
          <a:xfrm>
            <a:off x="3410994" y="3864399"/>
            <a:ext cx="0" cy="18288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" name="Shape 25">
            <a:extLst>
              <a:ext uri="{FF2B5EF4-FFF2-40B4-BE49-F238E27FC236}">
                <a16:creationId xmlns:a16="http://schemas.microsoft.com/office/drawing/2014/main" id="{F14FA776-A547-2A79-782B-C3FA64FC4D76}"/>
              </a:ext>
            </a:extLst>
          </p:cNvPr>
          <p:cNvSpPr/>
          <p:nvPr/>
        </p:nvSpPr>
        <p:spPr>
          <a:xfrm>
            <a:off x="256314" y="4006131"/>
            <a:ext cx="6309360" cy="402336"/>
          </a:xfrm>
          <a:prstGeom prst="roundRect">
            <a:avLst>
              <a:gd name="adj" fmla="val 20455"/>
            </a:avLst>
          </a:prstGeom>
          <a:solidFill>
            <a:srgbClr val="0E6F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D268675B-D266-B098-0724-AEBA71EB5165}"/>
              </a:ext>
            </a:extLst>
          </p:cNvPr>
          <p:cNvSpPr txBox="1"/>
          <p:nvPr/>
        </p:nvSpPr>
        <p:spPr>
          <a:xfrm>
            <a:off x="302034" y="4122660"/>
            <a:ext cx="6217920" cy="16927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MATCHING</a:t>
            </a:r>
            <a:endParaRPr lang="en-US" sz="1100" dirty="0"/>
          </a:p>
        </p:txBody>
      </p:sp>
      <p:sp>
        <p:nvSpPr>
          <p:cNvPr id="36" name="Shape 27">
            <a:extLst>
              <a:ext uri="{FF2B5EF4-FFF2-40B4-BE49-F238E27FC236}">
                <a16:creationId xmlns:a16="http://schemas.microsoft.com/office/drawing/2014/main" id="{A56F6A3C-A5A8-CD10-41F7-8BD841D7A30F}"/>
              </a:ext>
            </a:extLst>
          </p:cNvPr>
          <p:cNvSpPr/>
          <p:nvPr/>
        </p:nvSpPr>
        <p:spPr>
          <a:xfrm>
            <a:off x="3410994" y="4408467"/>
            <a:ext cx="0" cy="18288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" name="Shape 28">
            <a:extLst>
              <a:ext uri="{FF2B5EF4-FFF2-40B4-BE49-F238E27FC236}">
                <a16:creationId xmlns:a16="http://schemas.microsoft.com/office/drawing/2014/main" id="{7ADA59E0-B890-D818-6F17-4FD47EC8D52D}"/>
              </a:ext>
            </a:extLst>
          </p:cNvPr>
          <p:cNvSpPr/>
          <p:nvPr/>
        </p:nvSpPr>
        <p:spPr>
          <a:xfrm>
            <a:off x="256314" y="4550199"/>
            <a:ext cx="6309360" cy="402336"/>
          </a:xfrm>
          <a:prstGeom prst="roundRect">
            <a:avLst>
              <a:gd name="adj" fmla="val 20455"/>
            </a:avLst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8" name="Text 29">
            <a:extLst>
              <a:ext uri="{FF2B5EF4-FFF2-40B4-BE49-F238E27FC236}">
                <a16:creationId xmlns:a16="http://schemas.microsoft.com/office/drawing/2014/main" id="{5D9F48FF-14D2-1DC2-17C0-D1D122E0EB71}"/>
              </a:ext>
            </a:extLst>
          </p:cNvPr>
          <p:cNvSpPr txBox="1"/>
          <p:nvPr/>
        </p:nvSpPr>
        <p:spPr>
          <a:xfrm>
            <a:off x="302034" y="4550199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iGOT / NSSTA RECOMMENDATION</a:t>
            </a:r>
            <a:endParaRPr lang="en-US" sz="1100" dirty="0"/>
          </a:p>
        </p:txBody>
      </p:sp>
      <p:sp>
        <p:nvSpPr>
          <p:cNvPr id="39" name="Shape 30">
            <a:extLst>
              <a:ext uri="{FF2B5EF4-FFF2-40B4-BE49-F238E27FC236}">
                <a16:creationId xmlns:a16="http://schemas.microsoft.com/office/drawing/2014/main" id="{588C0E05-0BBD-268C-801A-F22F0A1E31A0}"/>
              </a:ext>
            </a:extLst>
          </p:cNvPr>
          <p:cNvSpPr/>
          <p:nvPr/>
        </p:nvSpPr>
        <p:spPr>
          <a:xfrm>
            <a:off x="3410994" y="4952535"/>
            <a:ext cx="0" cy="18288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0" name="Shape 31">
            <a:extLst>
              <a:ext uri="{FF2B5EF4-FFF2-40B4-BE49-F238E27FC236}">
                <a16:creationId xmlns:a16="http://schemas.microsoft.com/office/drawing/2014/main" id="{C81210E1-D68A-EFFA-0508-A3A6423725B4}"/>
              </a:ext>
            </a:extLst>
          </p:cNvPr>
          <p:cNvSpPr/>
          <p:nvPr/>
        </p:nvSpPr>
        <p:spPr>
          <a:xfrm>
            <a:off x="256314" y="5094267"/>
            <a:ext cx="6309360" cy="402336"/>
          </a:xfrm>
          <a:prstGeom prst="roundRect">
            <a:avLst>
              <a:gd name="adj" fmla="val 20455"/>
            </a:avLst>
          </a:prstGeom>
          <a:solidFill>
            <a:srgbClr val="B4690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1" name="Text 32">
            <a:extLst>
              <a:ext uri="{FF2B5EF4-FFF2-40B4-BE49-F238E27FC236}">
                <a16:creationId xmlns:a16="http://schemas.microsoft.com/office/drawing/2014/main" id="{2E24C568-673C-2482-4BC8-8A2D3D743E03}"/>
              </a:ext>
            </a:extLst>
          </p:cNvPr>
          <p:cNvSpPr txBox="1"/>
          <p:nvPr/>
        </p:nvSpPr>
        <p:spPr>
          <a:xfrm>
            <a:off x="302034" y="5094267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 +  TEST</a:t>
            </a:r>
            <a:endParaRPr lang="en-US" sz="1100" dirty="0"/>
          </a:p>
        </p:txBody>
      </p:sp>
      <p:sp>
        <p:nvSpPr>
          <p:cNvPr id="42" name="Shape 33">
            <a:extLst>
              <a:ext uri="{FF2B5EF4-FFF2-40B4-BE49-F238E27FC236}">
                <a16:creationId xmlns:a16="http://schemas.microsoft.com/office/drawing/2014/main" id="{C731EAE4-504D-9AC6-4078-BFBEDC994807}"/>
              </a:ext>
            </a:extLst>
          </p:cNvPr>
          <p:cNvSpPr/>
          <p:nvPr/>
        </p:nvSpPr>
        <p:spPr>
          <a:xfrm>
            <a:off x="3410994" y="5496603"/>
            <a:ext cx="0" cy="182880"/>
          </a:xfrm>
          <a:prstGeom prst="line">
            <a:avLst/>
          </a:prstGeom>
          <a:noFill/>
          <a:ln w="25400">
            <a:solidFill>
              <a:srgbClr val="6B768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3" name="Shape 34">
            <a:extLst>
              <a:ext uri="{FF2B5EF4-FFF2-40B4-BE49-F238E27FC236}">
                <a16:creationId xmlns:a16="http://schemas.microsoft.com/office/drawing/2014/main" id="{CA6D7ABD-2559-A4F4-9E6C-3EEE8A6C25B4}"/>
              </a:ext>
            </a:extLst>
          </p:cNvPr>
          <p:cNvSpPr/>
          <p:nvPr/>
        </p:nvSpPr>
        <p:spPr>
          <a:xfrm>
            <a:off x="256314" y="5638335"/>
            <a:ext cx="6309360" cy="402336"/>
          </a:xfrm>
          <a:prstGeom prst="roundRect">
            <a:avLst>
              <a:gd name="adj" fmla="val 20455"/>
            </a:avLst>
          </a:prstGeom>
          <a:solidFill>
            <a:srgbClr val="B4690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4" name="Text 35">
            <a:extLst>
              <a:ext uri="{FF2B5EF4-FFF2-40B4-BE49-F238E27FC236}">
                <a16:creationId xmlns:a16="http://schemas.microsoft.com/office/drawing/2014/main" id="{ACEB2A15-A6F4-2180-EEC4-85AF1A985B79}"/>
              </a:ext>
            </a:extLst>
          </p:cNvPr>
          <p:cNvSpPr txBox="1"/>
          <p:nvPr/>
        </p:nvSpPr>
        <p:spPr>
          <a:xfrm>
            <a:off x="302034" y="5638335"/>
            <a:ext cx="6217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</a:t>
            </a:r>
            <a:endParaRPr lang="en-US" sz="1100" dirty="0"/>
          </a:p>
        </p:txBody>
      </p:sp>
      <p:sp>
        <p:nvSpPr>
          <p:cNvPr id="45" name="Text 1">
            <a:extLst>
              <a:ext uri="{FF2B5EF4-FFF2-40B4-BE49-F238E27FC236}">
                <a16:creationId xmlns:a16="http://schemas.microsoft.com/office/drawing/2014/main" id="{CB64A135-95CC-8A18-A410-A95EDB4902D4}"/>
              </a:ext>
            </a:extLst>
          </p:cNvPr>
          <p:cNvSpPr txBox="1"/>
          <p:nvPr/>
        </p:nvSpPr>
        <p:spPr>
          <a:xfrm>
            <a:off x="1665083" y="699989"/>
            <a:ext cx="298311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500" dirty="0"/>
          </a:p>
        </p:txBody>
      </p:sp>
      <p:sp>
        <p:nvSpPr>
          <p:cNvPr id="46" name="Shape 40">
            <a:extLst>
              <a:ext uri="{FF2B5EF4-FFF2-40B4-BE49-F238E27FC236}">
                <a16:creationId xmlns:a16="http://schemas.microsoft.com/office/drawing/2014/main" id="{E91D9D4A-3F71-4152-05E8-0652DA667FC2}"/>
              </a:ext>
            </a:extLst>
          </p:cNvPr>
          <p:cNvSpPr/>
          <p:nvPr/>
        </p:nvSpPr>
        <p:spPr>
          <a:xfrm>
            <a:off x="7086600" y="1078992"/>
            <a:ext cx="464515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Shape 41">
            <a:extLst>
              <a:ext uri="{FF2B5EF4-FFF2-40B4-BE49-F238E27FC236}">
                <a16:creationId xmlns:a16="http://schemas.microsoft.com/office/drawing/2014/main" id="{CFB5F301-A26C-CEA3-5922-618739AB7176}"/>
              </a:ext>
            </a:extLst>
          </p:cNvPr>
          <p:cNvSpPr/>
          <p:nvPr/>
        </p:nvSpPr>
        <p:spPr>
          <a:xfrm>
            <a:off x="7086600" y="1078992"/>
            <a:ext cx="73152" cy="932688"/>
          </a:xfrm>
          <a:prstGeom prst="roundRect">
            <a:avLst/>
          </a:prstGeom>
          <a:solidFill>
            <a:srgbClr val="0E6F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8" name="Text 42">
            <a:extLst>
              <a:ext uri="{FF2B5EF4-FFF2-40B4-BE49-F238E27FC236}">
                <a16:creationId xmlns:a16="http://schemas.microsoft.com/office/drawing/2014/main" id="{A0223E85-3CB9-9D6C-2A00-52A9D0461EB8}"/>
              </a:ext>
            </a:extLst>
          </p:cNvPr>
          <p:cNvSpPr txBox="1"/>
          <p:nvPr/>
        </p:nvSpPr>
        <p:spPr>
          <a:xfrm>
            <a:off x="7306056" y="1170432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49" name="Text 43">
            <a:extLst>
              <a:ext uri="{FF2B5EF4-FFF2-40B4-BE49-F238E27FC236}">
                <a16:creationId xmlns:a16="http://schemas.microsoft.com/office/drawing/2014/main" id="{6430A5C9-CFE4-D018-6AD9-8245DCC812FA}"/>
              </a:ext>
            </a:extLst>
          </p:cNvPr>
          <p:cNvSpPr txBox="1"/>
          <p:nvPr/>
        </p:nvSpPr>
        <p:spPr>
          <a:xfrm>
            <a:off x="7306056" y="1426464"/>
            <a:ext cx="4279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— role-based dashboards, Bhashini multilingual UI</a:t>
            </a:r>
            <a:endParaRPr lang="en-US" sz="930" dirty="0"/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16362F2D-7EB3-E7DE-0DB6-A862CA3F3B8D}"/>
              </a:ext>
            </a:extLst>
          </p:cNvPr>
          <p:cNvSpPr/>
          <p:nvPr/>
        </p:nvSpPr>
        <p:spPr>
          <a:xfrm>
            <a:off x="7086600" y="2135124"/>
            <a:ext cx="464515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9EE2F072-82CD-821E-B15F-21D06534C4A8}"/>
              </a:ext>
            </a:extLst>
          </p:cNvPr>
          <p:cNvSpPr/>
          <p:nvPr/>
        </p:nvSpPr>
        <p:spPr>
          <a:xfrm>
            <a:off x="7086600" y="2135124"/>
            <a:ext cx="73152" cy="932688"/>
          </a:xfrm>
          <a:prstGeom prst="round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FF40607-A23B-DEE2-71CC-2246BF03BB86}"/>
              </a:ext>
            </a:extLst>
          </p:cNvPr>
          <p:cNvSpPr txBox="1"/>
          <p:nvPr/>
        </p:nvSpPr>
        <p:spPr>
          <a:xfrm>
            <a:off x="7306056" y="2226564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50" dirty="0"/>
          </a:p>
        </p:txBody>
      </p:sp>
      <p:sp>
        <p:nvSpPr>
          <p:cNvPr id="53" name="Text 47">
            <a:extLst>
              <a:ext uri="{FF2B5EF4-FFF2-40B4-BE49-F238E27FC236}">
                <a16:creationId xmlns:a16="http://schemas.microsoft.com/office/drawing/2014/main" id="{C94AD293-1D1C-9EC7-7C0A-7F19C8E06153}"/>
              </a:ext>
            </a:extLst>
          </p:cNvPr>
          <p:cNvSpPr txBox="1"/>
          <p:nvPr/>
        </p:nvSpPr>
        <p:spPr>
          <a:xfrm>
            <a:off x="7306056" y="2482596"/>
            <a:ext cx="4279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— REST APIs</a:t>
            </a:r>
            <a:endParaRPr lang="en-US" sz="930" dirty="0"/>
          </a:p>
        </p:txBody>
      </p:sp>
      <p:sp>
        <p:nvSpPr>
          <p:cNvPr id="54" name="Shape 48">
            <a:extLst>
              <a:ext uri="{FF2B5EF4-FFF2-40B4-BE49-F238E27FC236}">
                <a16:creationId xmlns:a16="http://schemas.microsoft.com/office/drawing/2014/main" id="{72451F93-3720-9F3E-0EC2-52E4774BD468}"/>
              </a:ext>
            </a:extLst>
          </p:cNvPr>
          <p:cNvSpPr/>
          <p:nvPr/>
        </p:nvSpPr>
        <p:spPr>
          <a:xfrm>
            <a:off x="7086600" y="3191256"/>
            <a:ext cx="464515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49">
            <a:extLst>
              <a:ext uri="{FF2B5EF4-FFF2-40B4-BE49-F238E27FC236}">
                <a16:creationId xmlns:a16="http://schemas.microsoft.com/office/drawing/2014/main" id="{68768C5F-7004-C7BF-2301-55F0F6313276}"/>
              </a:ext>
            </a:extLst>
          </p:cNvPr>
          <p:cNvSpPr/>
          <p:nvPr/>
        </p:nvSpPr>
        <p:spPr>
          <a:xfrm>
            <a:off x="7086600" y="3191256"/>
            <a:ext cx="73152" cy="932688"/>
          </a:xfrm>
          <a:prstGeom prst="roundRect">
            <a:avLst/>
          </a:prstGeom>
          <a:solidFill>
            <a:srgbClr val="3C47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6" name="Text 50">
            <a:extLst>
              <a:ext uri="{FF2B5EF4-FFF2-40B4-BE49-F238E27FC236}">
                <a16:creationId xmlns:a16="http://schemas.microsoft.com/office/drawing/2014/main" id="{BCC8C39B-F0CB-528C-FF58-7041E0FDAC84}"/>
              </a:ext>
            </a:extLst>
          </p:cNvPr>
          <p:cNvSpPr txBox="1"/>
          <p:nvPr/>
        </p:nvSpPr>
        <p:spPr>
          <a:xfrm>
            <a:off x="7306056" y="3282696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50" dirty="0"/>
          </a:p>
        </p:txBody>
      </p:sp>
      <p:sp>
        <p:nvSpPr>
          <p:cNvPr id="57" name="Text 51">
            <a:extLst>
              <a:ext uri="{FF2B5EF4-FFF2-40B4-BE49-F238E27FC236}">
                <a16:creationId xmlns:a16="http://schemas.microsoft.com/office/drawing/2014/main" id="{70AEBCB1-41C5-3A34-5A9B-D16FBB09B4AE}"/>
              </a:ext>
            </a:extLst>
          </p:cNvPr>
          <p:cNvSpPr txBox="1"/>
          <p:nvPr/>
        </p:nvSpPr>
        <p:spPr>
          <a:xfrm>
            <a:off x="7306056" y="3538728"/>
            <a:ext cx="4279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profiles, skills, courses, assessments</a:t>
            </a:r>
            <a:endParaRPr lang="en-US" sz="930" dirty="0"/>
          </a:p>
        </p:txBody>
      </p:sp>
      <p:sp>
        <p:nvSpPr>
          <p:cNvPr id="58" name="Shape 52">
            <a:extLst>
              <a:ext uri="{FF2B5EF4-FFF2-40B4-BE49-F238E27FC236}">
                <a16:creationId xmlns:a16="http://schemas.microsoft.com/office/drawing/2014/main" id="{3F9FB021-19F6-D5F5-A476-ABB84BA7E3AC}"/>
              </a:ext>
            </a:extLst>
          </p:cNvPr>
          <p:cNvSpPr/>
          <p:nvPr/>
        </p:nvSpPr>
        <p:spPr>
          <a:xfrm>
            <a:off x="7086600" y="4247388"/>
            <a:ext cx="464515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0E0E737B-A4D9-38A4-F57D-0A3477AF300A}"/>
              </a:ext>
            </a:extLst>
          </p:cNvPr>
          <p:cNvSpPr/>
          <p:nvPr/>
        </p:nvSpPr>
        <p:spPr>
          <a:xfrm>
            <a:off x="7086600" y="4247388"/>
            <a:ext cx="73152" cy="932688"/>
          </a:xfrm>
          <a:prstGeom prst="roundRect">
            <a:avLst/>
          </a:prstGeom>
          <a:solidFill>
            <a:srgbClr val="0E6F6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A7B26CBE-7C7F-5CCF-D15B-883DFB8AB95A}"/>
              </a:ext>
            </a:extLst>
          </p:cNvPr>
          <p:cNvSpPr txBox="1"/>
          <p:nvPr/>
        </p:nvSpPr>
        <p:spPr>
          <a:xfrm>
            <a:off x="7306056" y="4338828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150" dirty="0"/>
          </a:p>
        </p:txBody>
      </p:sp>
      <p:sp>
        <p:nvSpPr>
          <p:cNvPr id="61" name="Text 55">
            <a:extLst>
              <a:ext uri="{FF2B5EF4-FFF2-40B4-BE49-F238E27FC236}">
                <a16:creationId xmlns:a16="http://schemas.microsoft.com/office/drawing/2014/main" id="{D767EE5F-0304-A7C5-4355-1418A0F3E4CC}"/>
              </a:ext>
            </a:extLst>
          </p:cNvPr>
          <p:cNvSpPr txBox="1"/>
          <p:nvPr/>
        </p:nvSpPr>
        <p:spPr>
          <a:xfrm>
            <a:off x="7306056" y="4594860"/>
            <a:ext cx="4279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NLP, gap engine, LLM based MCQ generation, recommender</a:t>
            </a:r>
            <a:endParaRPr lang="en-US" sz="930" dirty="0"/>
          </a:p>
        </p:txBody>
      </p:sp>
      <p:sp>
        <p:nvSpPr>
          <p:cNvPr id="62" name="Shape 56">
            <a:extLst>
              <a:ext uri="{FF2B5EF4-FFF2-40B4-BE49-F238E27FC236}">
                <a16:creationId xmlns:a16="http://schemas.microsoft.com/office/drawing/2014/main" id="{C79B0594-1B14-3D5C-B2A8-16C726C8EE40}"/>
              </a:ext>
            </a:extLst>
          </p:cNvPr>
          <p:cNvSpPr/>
          <p:nvPr/>
        </p:nvSpPr>
        <p:spPr>
          <a:xfrm>
            <a:off x="7086600" y="5303520"/>
            <a:ext cx="4645152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Shape 57">
            <a:extLst>
              <a:ext uri="{FF2B5EF4-FFF2-40B4-BE49-F238E27FC236}">
                <a16:creationId xmlns:a16="http://schemas.microsoft.com/office/drawing/2014/main" id="{CD3955C8-2A7C-2D86-5D40-0A5C62D9811E}"/>
              </a:ext>
            </a:extLst>
          </p:cNvPr>
          <p:cNvSpPr/>
          <p:nvPr/>
        </p:nvSpPr>
        <p:spPr>
          <a:xfrm>
            <a:off x="7086600" y="5303520"/>
            <a:ext cx="73152" cy="932688"/>
          </a:xfrm>
          <a:prstGeom prst="roundRect">
            <a:avLst/>
          </a:prstGeom>
          <a:solidFill>
            <a:srgbClr val="1623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408" name="Text 58">
            <a:extLst>
              <a:ext uri="{FF2B5EF4-FFF2-40B4-BE49-F238E27FC236}">
                <a16:creationId xmlns:a16="http://schemas.microsoft.com/office/drawing/2014/main" id="{02908831-977D-ABAC-340A-AC0D2A14E937}"/>
              </a:ext>
            </a:extLst>
          </p:cNvPr>
          <p:cNvSpPr txBox="1"/>
          <p:nvPr/>
        </p:nvSpPr>
        <p:spPr>
          <a:xfrm>
            <a:off x="7306056" y="5394960"/>
            <a:ext cx="4279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50" dirty="0"/>
          </a:p>
        </p:txBody>
      </p:sp>
      <p:sp>
        <p:nvSpPr>
          <p:cNvPr id="17411" name="Text 59">
            <a:extLst>
              <a:ext uri="{FF2B5EF4-FFF2-40B4-BE49-F238E27FC236}">
                <a16:creationId xmlns:a16="http://schemas.microsoft.com/office/drawing/2014/main" id="{DC9E7E4E-F5EA-B869-C537-36D7744168EA}"/>
              </a:ext>
            </a:extLst>
          </p:cNvPr>
          <p:cNvSpPr txBox="1"/>
          <p:nvPr/>
        </p:nvSpPr>
        <p:spPr>
          <a:xfrm>
            <a:off x="7306056" y="5650992"/>
            <a:ext cx="4279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93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RBAC, SSO-ready with iGOT · DPDP aligned, audit logs</a:t>
            </a:r>
            <a:endParaRPr lang="en-US" sz="930" dirty="0"/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D08006C4-549F-5B02-501A-1EB9AA22BE4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886" y="59491"/>
            <a:ext cx="158615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Logic_</a:t>
            </a:r>
          </a:p>
          <a:p>
            <a:pPr algn="ctr"/>
            <a:r>
              <a:rPr lang="en-US" dirty="0"/>
              <a:t>Unlocked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1" y="-318804"/>
            <a:ext cx="121920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49" y="0"/>
            <a:ext cx="2249850" cy="1062337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95C0344-FC2D-161A-F0D8-B672B9547569}"/>
              </a:ext>
            </a:extLst>
          </p:cNvPr>
          <p:cNvSpPr/>
          <p:nvPr/>
        </p:nvSpPr>
        <p:spPr>
          <a:xfrm>
            <a:off x="457200" y="1078992"/>
            <a:ext cx="5527548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37189B5-ACA5-57AF-F63D-BCA76EC852ED}"/>
              </a:ext>
            </a:extLst>
          </p:cNvPr>
          <p:cNvSpPr/>
          <p:nvPr/>
        </p:nvSpPr>
        <p:spPr>
          <a:xfrm>
            <a:off x="603504" y="1225296"/>
            <a:ext cx="384048" cy="64008"/>
          </a:xfrm>
          <a:prstGeom prst="roundRect">
            <a:avLst>
              <a:gd name="adj" fmla="val 4000"/>
            </a:avLst>
          </a:prstGeom>
          <a:solidFill>
            <a:srgbClr val="0E6F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6F4A58-9689-6350-F0C1-EF93CDDE4C21}"/>
              </a:ext>
            </a:extLst>
          </p:cNvPr>
          <p:cNvSpPr txBox="1"/>
          <p:nvPr/>
        </p:nvSpPr>
        <p:spPr>
          <a:xfrm>
            <a:off x="603504" y="1344168"/>
            <a:ext cx="52349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6233F"/>
                </a:solidFill>
                <a:latin typeface="Cambria"/>
              </a:rPr>
              <a:t>TECHNICAL FEASIBILITY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FD1621-C8D6-EEC1-133D-AEC5094684BB}"/>
              </a:ext>
            </a:extLst>
          </p:cNvPr>
          <p:cNvSpPr txBox="1"/>
          <p:nvPr/>
        </p:nvSpPr>
        <p:spPr>
          <a:xfrm>
            <a:off x="603504" y="1673352"/>
            <a:ext cx="5234940" cy="1088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100" b="0" i="0" dirty="0">
                <a:solidFill>
                  <a:srgbClr val="0E6F6A"/>
                </a:solidFill>
                <a:latin typeface="Calibri"/>
              </a:rPr>
              <a:t>•  </a:t>
            </a:r>
            <a:r>
              <a:rPr sz="1100" b="0" i="0" dirty="0">
                <a:solidFill>
                  <a:srgbClr val="3C4756"/>
                </a:solidFill>
                <a:latin typeface="Calibri"/>
              </a:rPr>
              <a:t>Proven open-source stack — React, Node.js, MongoDB, Python</a:t>
            </a:r>
          </a:p>
          <a:p>
            <a:pPr>
              <a:spcAft>
                <a:spcPts val="1000"/>
              </a:spcAft>
            </a:pPr>
            <a:r>
              <a:rPr sz="1100" b="0" i="0" dirty="0">
                <a:solidFill>
                  <a:srgbClr val="0E6F6A"/>
                </a:solidFill>
                <a:latin typeface="Calibri"/>
              </a:rPr>
              <a:t>•  </a:t>
            </a:r>
            <a:r>
              <a:rPr lang="en-IN" sz="1100" dirty="0"/>
              <a:t>Low technical risk — built using proven AI, assessment and recommendation techniques</a:t>
            </a:r>
            <a:endParaRPr sz="1100" b="0" i="0" dirty="0">
              <a:solidFill>
                <a:srgbClr val="3C4756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100" b="0" i="0" dirty="0">
                <a:solidFill>
                  <a:srgbClr val="0E6F6A"/>
                </a:solidFill>
                <a:latin typeface="Calibri"/>
              </a:rPr>
              <a:t>•  </a:t>
            </a:r>
            <a:r>
              <a:rPr sz="1100" b="0" i="0" dirty="0">
                <a:solidFill>
                  <a:srgbClr val="3C4756"/>
                </a:solidFill>
                <a:latin typeface="Calibri"/>
              </a:rPr>
              <a:t>JWT + RBAC security, SSO-ready with </a:t>
            </a:r>
            <a:r>
              <a:rPr sz="1100" b="0" i="0" dirty="0" err="1">
                <a:solidFill>
                  <a:srgbClr val="3C4756"/>
                </a:solidFill>
                <a:latin typeface="Calibri"/>
              </a:rPr>
              <a:t>iGOT</a:t>
            </a:r>
            <a:endParaRPr sz="1100" b="0" i="0" dirty="0">
              <a:solidFill>
                <a:srgbClr val="3C4756"/>
              </a:solidFill>
              <a:latin typeface="Calibri"/>
            </a:endParaRPr>
          </a:p>
          <a:p>
            <a:pPr>
              <a:spcAft>
                <a:spcPts val="1000"/>
              </a:spcAft>
            </a:pPr>
            <a:r>
              <a:rPr sz="1100" b="0" i="0" dirty="0">
                <a:solidFill>
                  <a:srgbClr val="0E6F6A"/>
                </a:solidFill>
                <a:latin typeface="Calibri"/>
              </a:rPr>
              <a:t>•  </a:t>
            </a:r>
            <a:r>
              <a:rPr lang="en-IN" sz="1100" dirty="0"/>
              <a:t>Designed with DPDP requirements in mind — encrypted personal data and audit logs</a:t>
            </a:r>
            <a:endParaRPr sz="1100" b="0" i="0" dirty="0">
              <a:solidFill>
                <a:srgbClr val="3C4756"/>
              </a:solidFill>
              <a:latin typeface="Calibri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516A797-2ECD-5A5D-879D-B4868B5F7B19}"/>
              </a:ext>
            </a:extLst>
          </p:cNvPr>
          <p:cNvSpPr/>
          <p:nvPr/>
        </p:nvSpPr>
        <p:spPr>
          <a:xfrm>
            <a:off x="6204204" y="1078992"/>
            <a:ext cx="5527548" cy="17373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C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DFEB8B8-EA14-4E6C-6DFA-1DDDF51C344B}"/>
              </a:ext>
            </a:extLst>
          </p:cNvPr>
          <p:cNvSpPr/>
          <p:nvPr/>
        </p:nvSpPr>
        <p:spPr>
          <a:xfrm>
            <a:off x="6350508" y="1225296"/>
            <a:ext cx="384048" cy="64008"/>
          </a:xfrm>
          <a:prstGeom prst="roundRect">
            <a:avLst>
              <a:gd name="adj" fmla="val 4000"/>
            </a:avLst>
          </a:prstGeom>
          <a:solidFill>
            <a:srgbClr val="1623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49E90D-7452-83C8-B202-15F86C8DE5E6}"/>
              </a:ext>
            </a:extLst>
          </p:cNvPr>
          <p:cNvSpPr txBox="1"/>
          <p:nvPr/>
        </p:nvSpPr>
        <p:spPr>
          <a:xfrm>
            <a:off x="6350508" y="1344168"/>
            <a:ext cx="52349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 i="0">
                <a:solidFill>
                  <a:srgbClr val="16233F"/>
                </a:solidFill>
                <a:latin typeface="Cambria"/>
              </a:rPr>
              <a:t>DEPLOYMENT VIABILITY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12E3DF-3DF9-5B1B-0E09-17337C95B17B}"/>
              </a:ext>
            </a:extLst>
          </p:cNvPr>
          <p:cNvSpPr txBox="1"/>
          <p:nvPr/>
        </p:nvSpPr>
        <p:spPr>
          <a:xfrm>
            <a:off x="6350508" y="1673352"/>
            <a:ext cx="5234940" cy="7778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100" b="0" i="0" dirty="0">
                <a:solidFill>
                  <a:srgbClr val="16233F"/>
                </a:solidFill>
                <a:latin typeface="Calibri"/>
              </a:rPr>
              <a:t>•  </a:t>
            </a:r>
            <a:r>
              <a:rPr lang="en-IN" sz="1100" dirty="0"/>
              <a:t>Designed for integration with authorized </a:t>
            </a:r>
            <a:r>
              <a:rPr lang="en-IN" sz="1100" dirty="0" err="1"/>
              <a:t>iGOT</a:t>
            </a:r>
            <a:r>
              <a:rPr lang="en-IN" sz="1100" dirty="0"/>
              <a:t> APIs/interfaces</a:t>
            </a:r>
            <a:endParaRPr sz="1100" b="0" i="0" dirty="0">
              <a:solidFill>
                <a:srgbClr val="3C4756"/>
              </a:solidFill>
              <a:latin typeface="Calibri"/>
            </a:endParaRP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100" b="0" i="0" dirty="0">
                <a:solidFill>
                  <a:srgbClr val="16233F"/>
                </a:solidFill>
                <a:latin typeface="Calibri"/>
              </a:rPr>
              <a:t>•  </a:t>
            </a:r>
            <a:r>
              <a:rPr sz="1100" b="0" i="0" dirty="0">
                <a:solidFill>
                  <a:srgbClr val="3C4756"/>
                </a:solidFill>
                <a:latin typeface="Calibri"/>
              </a:rPr>
              <a:t>Bhashini API already live — no new government procurement needed</a:t>
            </a:r>
          </a:p>
          <a:p>
            <a:pPr>
              <a:spcAft>
                <a:spcPts val="1000"/>
              </a:spcAft>
            </a:pPr>
            <a:r>
              <a:rPr sz="1100" b="0" i="0" dirty="0">
                <a:solidFill>
                  <a:srgbClr val="16233F"/>
                </a:solidFill>
                <a:latin typeface="Calibri"/>
              </a:rPr>
              <a:t>•  </a:t>
            </a:r>
            <a:r>
              <a:rPr lang="en-IN" sz="1100" dirty="0"/>
              <a:t>Cloud-ready — deployable on suitable government infrastructure</a:t>
            </a:r>
            <a:endParaRPr sz="1100" b="0" i="0" dirty="0">
              <a:solidFill>
                <a:srgbClr val="3C4756"/>
              </a:solidFill>
              <a:latin typeface="Calibri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FD226401-D867-D605-8690-5BD88E8A56B2}"/>
              </a:ext>
            </a:extLst>
          </p:cNvPr>
          <p:cNvSpPr/>
          <p:nvPr/>
        </p:nvSpPr>
        <p:spPr>
          <a:xfrm>
            <a:off x="457200" y="2953512"/>
            <a:ext cx="5527548" cy="1737360"/>
          </a:xfrm>
          <a:prstGeom prst="roundRect">
            <a:avLst>
              <a:gd name="adj" fmla="val 4000"/>
            </a:avLst>
          </a:prstGeom>
          <a:solidFill>
            <a:srgbClr val="F7E9E6"/>
          </a:solidFill>
          <a:ln w="12700">
            <a:solidFill>
              <a:srgbClr val="E9C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2C41A5B-14B7-59B3-A228-2A70A720A3FC}"/>
              </a:ext>
            </a:extLst>
          </p:cNvPr>
          <p:cNvSpPr txBox="1"/>
          <p:nvPr/>
        </p:nvSpPr>
        <p:spPr>
          <a:xfrm>
            <a:off x="603504" y="3099816"/>
            <a:ext cx="52349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C3B2E"/>
                </a:solidFill>
                <a:latin typeface="Calibri"/>
              </a:rPr>
              <a:t>TECHNICAL RISKS  →  MITIGATION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871043-D14F-C26E-D56E-CE7415F8AB12}"/>
              </a:ext>
            </a:extLst>
          </p:cNvPr>
          <p:cNvSpPr txBox="1"/>
          <p:nvPr/>
        </p:nvSpPr>
        <p:spPr>
          <a:xfrm>
            <a:off x="603504" y="3493512"/>
            <a:ext cx="52349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9C3B2E"/>
                </a:solidFill>
                <a:latin typeface="Calibri"/>
              </a:rPr>
              <a:t>iGOT API rate limits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CBAB7C-E271-21C5-3304-42E51ED06625}"/>
              </a:ext>
            </a:extLst>
          </p:cNvPr>
          <p:cNvSpPr txBox="1"/>
          <p:nvPr/>
        </p:nvSpPr>
        <p:spPr>
          <a:xfrm>
            <a:off x="603504" y="3753512"/>
            <a:ext cx="52349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 i="0" dirty="0">
                <a:solidFill>
                  <a:srgbClr val="3C4756"/>
                </a:solidFill>
                <a:latin typeface="Calibri"/>
              </a:rPr>
              <a:t>→  </a:t>
            </a:r>
            <a:r>
              <a:rPr lang="en-IN" sz="1050" dirty="0"/>
              <a:t>Regularly updated course catalogue keeps recommendations available</a:t>
            </a:r>
            <a:endParaRPr sz="1050" b="0" i="0" dirty="0">
              <a:solidFill>
                <a:srgbClr val="3C4756"/>
              </a:solidFill>
              <a:latin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D0F390-2B01-BE1B-C11D-D975AB96028A}"/>
              </a:ext>
            </a:extLst>
          </p:cNvPr>
          <p:cNvSpPr txBox="1"/>
          <p:nvPr/>
        </p:nvSpPr>
        <p:spPr>
          <a:xfrm>
            <a:off x="603504" y="4113512"/>
            <a:ext cx="52349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 dirty="0">
                <a:solidFill>
                  <a:srgbClr val="9C3B2E"/>
                </a:solidFill>
                <a:latin typeface="Calibri"/>
              </a:rPr>
              <a:t>MCQ quality drift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E9C21C9-46C2-1251-534A-2131F15663CE}"/>
              </a:ext>
            </a:extLst>
          </p:cNvPr>
          <p:cNvSpPr txBox="1"/>
          <p:nvPr/>
        </p:nvSpPr>
        <p:spPr>
          <a:xfrm>
            <a:off x="603504" y="4373512"/>
            <a:ext cx="5234940" cy="162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 dirty="0">
                <a:solidFill>
                  <a:srgbClr val="3C4756"/>
                </a:solidFill>
                <a:latin typeface="Calibri"/>
              </a:rPr>
              <a:t>→  LLM generation + human review</a:t>
            </a:r>
            <a:r>
              <a:rPr lang="en-IN" sz="1050" dirty="0">
                <a:solidFill>
                  <a:srgbClr val="3C4756"/>
                </a:solidFill>
                <a:latin typeface="Calibri"/>
              </a:rPr>
              <a:t> , maintaining transparency</a:t>
            </a:r>
            <a:endParaRPr sz="1050" b="0" i="0" dirty="0">
              <a:solidFill>
                <a:srgbClr val="3C4756"/>
              </a:solidFill>
              <a:latin typeface="Calibri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4F92FB8-D8C5-9052-B5F1-6B3618EBF3CB}"/>
              </a:ext>
            </a:extLst>
          </p:cNvPr>
          <p:cNvSpPr/>
          <p:nvPr/>
        </p:nvSpPr>
        <p:spPr>
          <a:xfrm>
            <a:off x="6204204" y="2953512"/>
            <a:ext cx="5527548" cy="1737360"/>
          </a:xfrm>
          <a:prstGeom prst="roundRect">
            <a:avLst>
              <a:gd name="adj" fmla="val 4000"/>
            </a:avLst>
          </a:prstGeom>
          <a:solidFill>
            <a:srgbClr val="F7E9E6"/>
          </a:solidFill>
          <a:ln w="12700">
            <a:solidFill>
              <a:srgbClr val="E9CF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457711-D044-6C97-779E-7694C286D83A}"/>
              </a:ext>
            </a:extLst>
          </p:cNvPr>
          <p:cNvSpPr txBox="1"/>
          <p:nvPr/>
        </p:nvSpPr>
        <p:spPr>
          <a:xfrm>
            <a:off x="6350508" y="3099816"/>
            <a:ext cx="52349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9C3B2E"/>
                </a:solidFill>
                <a:latin typeface="Calibri"/>
              </a:rPr>
              <a:t>OPERATIONAL RISKS  →  MITIGATION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0A737B-AA83-2CB0-3071-858D5DBC72E4}"/>
              </a:ext>
            </a:extLst>
          </p:cNvPr>
          <p:cNvSpPr txBox="1"/>
          <p:nvPr/>
        </p:nvSpPr>
        <p:spPr>
          <a:xfrm>
            <a:off x="6350508" y="3493512"/>
            <a:ext cx="52349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9C3B2E"/>
                </a:solidFill>
                <a:latin typeface="Calibri"/>
              </a:rPr>
              <a:t>Data privacy concerns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924885-A246-F0AF-C7A4-9DF344CBB9EE}"/>
              </a:ext>
            </a:extLst>
          </p:cNvPr>
          <p:cNvSpPr txBox="1"/>
          <p:nvPr/>
        </p:nvSpPr>
        <p:spPr>
          <a:xfrm>
            <a:off x="6350508" y="3753512"/>
            <a:ext cx="5234940" cy="1628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 dirty="0">
                <a:solidFill>
                  <a:srgbClr val="3C4756"/>
                </a:solidFill>
                <a:latin typeface="Calibri"/>
              </a:rPr>
              <a:t>→  DPDP </a:t>
            </a:r>
            <a:r>
              <a:rPr lang="en-IN" sz="1050" b="0" i="0" dirty="0">
                <a:solidFill>
                  <a:srgbClr val="3C4756"/>
                </a:solidFill>
                <a:latin typeface="Calibri"/>
              </a:rPr>
              <a:t>aligned</a:t>
            </a:r>
            <a:r>
              <a:rPr sz="1050" b="0" i="0" dirty="0">
                <a:solidFill>
                  <a:srgbClr val="3C4756"/>
                </a:solidFill>
                <a:latin typeface="Calibri"/>
              </a:rPr>
              <a:t> </a:t>
            </a:r>
            <a:r>
              <a:rPr sz="1050" b="0" i="0" dirty="0" err="1">
                <a:solidFill>
                  <a:srgbClr val="3C4756"/>
                </a:solidFill>
                <a:latin typeface="Calibri"/>
              </a:rPr>
              <a:t>desig</a:t>
            </a:r>
            <a:r>
              <a:rPr lang="en-IN" sz="1050" b="0" i="0" dirty="0">
                <a:solidFill>
                  <a:srgbClr val="3C4756"/>
                </a:solidFill>
                <a:latin typeface="Calibri"/>
              </a:rPr>
              <a:t>n</a:t>
            </a:r>
            <a:r>
              <a:rPr sz="1050" b="0" i="0" dirty="0">
                <a:solidFill>
                  <a:srgbClr val="3C4756"/>
                </a:solidFill>
                <a:latin typeface="Calibri"/>
              </a:rPr>
              <a:t>, full audit logs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B6E855-01B6-8FA3-F767-745DA1BCD265}"/>
              </a:ext>
            </a:extLst>
          </p:cNvPr>
          <p:cNvSpPr txBox="1"/>
          <p:nvPr/>
        </p:nvSpPr>
        <p:spPr>
          <a:xfrm>
            <a:off x="6350508" y="4113512"/>
            <a:ext cx="52349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9C3B2E"/>
                </a:solidFill>
                <a:latin typeface="Calibri"/>
              </a:rPr>
              <a:t>Cold-start on new officials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54FB69-9DB4-D31A-BB94-DFBADA7C1F11}"/>
              </a:ext>
            </a:extLst>
          </p:cNvPr>
          <p:cNvSpPr txBox="1"/>
          <p:nvPr/>
        </p:nvSpPr>
        <p:spPr>
          <a:xfrm>
            <a:off x="6350508" y="4373512"/>
            <a:ext cx="523494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050" b="0" i="0" dirty="0">
                <a:solidFill>
                  <a:srgbClr val="3C4756"/>
                </a:solidFill>
                <a:latin typeface="Calibri"/>
              </a:rPr>
              <a:t>→  </a:t>
            </a:r>
            <a:r>
              <a:rPr lang="en-IN" sz="1050" dirty="0"/>
              <a:t>Cold-start → role-based baseline + initial assessment</a:t>
            </a:r>
            <a:endParaRPr sz="1050" b="0" i="0" dirty="0">
              <a:solidFill>
                <a:srgbClr val="3C4756"/>
              </a:solidFill>
              <a:latin typeface="Calibri"/>
            </a:endParaRP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0F8B439-1486-3711-7E90-CBE008CB63D8}"/>
              </a:ext>
            </a:extLst>
          </p:cNvPr>
          <p:cNvSpPr/>
          <p:nvPr/>
        </p:nvSpPr>
        <p:spPr>
          <a:xfrm>
            <a:off x="458724" y="4855464"/>
            <a:ext cx="11274552" cy="950000"/>
          </a:xfrm>
          <a:prstGeom prst="roundRect">
            <a:avLst>
              <a:gd name="adj" fmla="val 4000"/>
            </a:avLst>
          </a:prstGeom>
          <a:solidFill>
            <a:srgbClr val="16233F"/>
          </a:solidFill>
          <a:ln w="12700">
            <a:solidFill>
              <a:srgbClr val="162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CE547D-43AA-88F1-7D24-61489E614397}"/>
              </a:ext>
            </a:extLst>
          </p:cNvPr>
          <p:cNvSpPr txBox="1"/>
          <p:nvPr/>
        </p:nvSpPr>
        <p:spPr>
          <a:xfrm>
            <a:off x="731520" y="4983480"/>
            <a:ext cx="24000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5FD4C6"/>
                </a:solidFill>
                <a:latin typeface="Calibri"/>
              </a:rPr>
              <a:t>WHY FEASIBLE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509D65-8CB6-9B55-BDF3-3ED603C293A1}"/>
              </a:ext>
            </a:extLst>
          </p:cNvPr>
          <p:cNvSpPr txBox="1"/>
          <p:nvPr/>
        </p:nvSpPr>
        <p:spPr>
          <a:xfrm>
            <a:off x="731520" y="5275464"/>
            <a:ext cx="10725912" cy="47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mbria"/>
              </a:rPr>
              <a:t>Proven technology + existing government infrastructure (iGOT, Bhashini) + established competency frameworks (NSQF, DoPT) — same engine scales to any ministry or state bureau.</a:t>
            </a:r>
          </a:p>
        </p:txBody>
      </p:sp>
      <p:sp>
        <p:nvSpPr>
          <p:cNvPr id="5" name="Oval 4" descr="Your startup LOGO">
            <a:extLst>
              <a:ext uri="{FF2B5EF4-FFF2-40B4-BE49-F238E27FC236}">
                <a16:creationId xmlns:a16="http://schemas.microsoft.com/office/drawing/2014/main" id="{1B1F18C9-CE41-FC2B-436B-93A1A3A6311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886" y="59491"/>
            <a:ext cx="158615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Logic_</a:t>
            </a:r>
          </a:p>
          <a:p>
            <a:pPr algn="ctr"/>
            <a:r>
              <a:rPr lang="en-US" dirty="0"/>
              <a:t>Unlocked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2" y="-335666"/>
            <a:ext cx="12191998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2148" y="0"/>
            <a:ext cx="2249850" cy="1062337"/>
          </a:xfrm>
          <a:prstGeom prst="rect">
            <a:avLst/>
          </a:prstGeom>
        </p:spPr>
      </p:pic>
      <p:sp>
        <p:nvSpPr>
          <p:cNvPr id="4" name="Shape 4">
            <a:extLst>
              <a:ext uri="{FF2B5EF4-FFF2-40B4-BE49-F238E27FC236}">
                <a16:creationId xmlns:a16="http://schemas.microsoft.com/office/drawing/2014/main" id="{6A71BD33-4277-4F50-6921-35772BB9DD65}"/>
              </a:ext>
            </a:extLst>
          </p:cNvPr>
          <p:cNvSpPr/>
          <p:nvPr/>
        </p:nvSpPr>
        <p:spPr>
          <a:xfrm>
            <a:off x="457200" y="1078992"/>
            <a:ext cx="11274552" cy="310896"/>
          </a:xfrm>
          <a:prstGeom prst="roundRect">
            <a:avLst>
              <a:gd name="adj" fmla="val 11765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B9123D0B-2A3D-3005-6FB9-DFE5090F51CD}"/>
              </a:ext>
            </a:extLst>
          </p:cNvPr>
          <p:cNvSpPr/>
          <p:nvPr/>
        </p:nvSpPr>
        <p:spPr>
          <a:xfrm>
            <a:off x="457200" y="107899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853D9D2-98C8-192A-A791-6943EFA1182B}"/>
              </a:ext>
            </a:extLst>
          </p:cNvPr>
          <p:cNvSpPr txBox="1"/>
          <p:nvPr/>
        </p:nvSpPr>
        <p:spPr>
          <a:xfrm>
            <a:off x="2743200" y="107899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9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/ STATIC WORKFLOW</a:t>
            </a:r>
            <a:endParaRPr lang="en-US" sz="9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5C083CF-80D3-DE85-C3FB-7D625DC1DEDD}"/>
              </a:ext>
            </a:extLst>
          </p:cNvPr>
          <p:cNvSpPr txBox="1"/>
          <p:nvPr/>
        </p:nvSpPr>
        <p:spPr>
          <a:xfrm>
            <a:off x="6949440" y="1078992"/>
            <a:ext cx="47823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FD4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SKILLIFY</a:t>
            </a:r>
            <a:endParaRPr lang="en-US" sz="95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213278AA-0702-C753-BB36-A5121314D27F}"/>
              </a:ext>
            </a:extLst>
          </p:cNvPr>
          <p:cNvSpPr/>
          <p:nvPr/>
        </p:nvSpPr>
        <p:spPr>
          <a:xfrm>
            <a:off x="457200" y="1389888"/>
            <a:ext cx="11274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8"/>
            </a:solidFill>
            <a:prstDash val="solid"/>
          </a:ln>
        </p:spPr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F0B68BCB-68A4-E470-7A69-8C926EC431B2}"/>
              </a:ext>
            </a:extLst>
          </p:cNvPr>
          <p:cNvSpPr txBox="1"/>
          <p:nvPr/>
        </p:nvSpPr>
        <p:spPr>
          <a:xfrm>
            <a:off x="566928" y="1389888"/>
            <a:ext cx="21031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profile</a:t>
            </a:r>
            <a:endParaRPr lang="en-US" sz="930" dirty="0"/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E182FEC1-51F9-932B-6C7F-3CA0FA852C15}"/>
              </a:ext>
            </a:extLst>
          </p:cNvPr>
          <p:cNvSpPr txBox="1"/>
          <p:nvPr/>
        </p:nvSpPr>
        <p:spPr>
          <a:xfrm>
            <a:off x="2743200" y="1389888"/>
            <a:ext cx="4069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0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one-time certificate</a:t>
            </a:r>
            <a:endParaRPr lang="en-US" sz="900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F8E9E5C6-1379-8504-FF9D-B8BAD6FE80CA}"/>
              </a:ext>
            </a:extLst>
          </p:cNvPr>
          <p:cNvSpPr txBox="1"/>
          <p:nvPr/>
        </p:nvSpPr>
        <p:spPr>
          <a:xfrm>
            <a:off x="6949440" y="1389888"/>
            <a:ext cx="4645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b="1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score — updates after every course</a:t>
            </a:r>
            <a:endParaRPr lang="en-US" sz="9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A56536D4-B88E-6CA4-3BE6-B2EF892872ED}"/>
              </a:ext>
            </a:extLst>
          </p:cNvPr>
          <p:cNvSpPr/>
          <p:nvPr/>
        </p:nvSpPr>
        <p:spPr>
          <a:xfrm>
            <a:off x="457200" y="1650492"/>
            <a:ext cx="11274552" cy="260604"/>
          </a:xfrm>
          <a:prstGeom prst="rect">
            <a:avLst/>
          </a:prstGeom>
          <a:solidFill>
            <a:srgbClr val="F5F7F9"/>
          </a:solidFill>
          <a:ln w="6350">
            <a:solidFill>
              <a:srgbClr val="DCE2E8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B60979C7-32DE-3D17-56FC-652469240C0C}"/>
              </a:ext>
            </a:extLst>
          </p:cNvPr>
          <p:cNvSpPr txBox="1"/>
          <p:nvPr/>
        </p:nvSpPr>
        <p:spPr>
          <a:xfrm>
            <a:off x="566928" y="1650492"/>
            <a:ext cx="21031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visibility</a:t>
            </a:r>
            <a:endParaRPr lang="en-US" sz="930" dirty="0"/>
          </a:p>
        </p:txBody>
      </p:sp>
      <p:sp>
        <p:nvSpPr>
          <p:cNvPr id="20" name="Text 14">
            <a:extLst>
              <a:ext uri="{FF2B5EF4-FFF2-40B4-BE49-F238E27FC236}">
                <a16:creationId xmlns:a16="http://schemas.microsoft.com/office/drawing/2014/main" id="{0B80656F-2C93-25E7-CC33-2CBEB5C149ED}"/>
              </a:ext>
            </a:extLst>
          </p:cNvPr>
          <p:cNvSpPr txBox="1"/>
          <p:nvPr/>
        </p:nvSpPr>
        <p:spPr>
          <a:xfrm>
            <a:off x="2743200" y="1650492"/>
            <a:ext cx="4069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0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opaque score</a:t>
            </a:r>
            <a:endParaRPr lang="en-US" sz="900" dirty="0"/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0ABD470E-2B40-B43E-BF3E-293B1831D6F9}"/>
              </a:ext>
            </a:extLst>
          </p:cNvPr>
          <p:cNvSpPr txBox="1"/>
          <p:nvPr/>
        </p:nvSpPr>
        <p:spPr>
          <a:xfrm>
            <a:off x="6949440" y="1650492"/>
            <a:ext cx="4645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b="1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— which skill, and why</a:t>
            </a:r>
            <a:endParaRPr lang="en-US" sz="9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3B0EE420-B3B9-E769-1F21-F1A8C8911596}"/>
              </a:ext>
            </a:extLst>
          </p:cNvPr>
          <p:cNvSpPr/>
          <p:nvPr/>
        </p:nvSpPr>
        <p:spPr>
          <a:xfrm>
            <a:off x="457200" y="1911096"/>
            <a:ext cx="11274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8"/>
            </a:solidFill>
            <a:prstDash val="solid"/>
          </a:ln>
        </p:spPr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C49E7E76-B680-641B-81E5-E9B95C3B47DF}"/>
              </a:ext>
            </a:extLst>
          </p:cNvPr>
          <p:cNvSpPr txBox="1"/>
          <p:nvPr/>
        </p:nvSpPr>
        <p:spPr>
          <a:xfrm>
            <a:off x="566928" y="1911096"/>
            <a:ext cx="21031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discovery</a:t>
            </a:r>
            <a:endParaRPr lang="en-US" sz="930" dirty="0"/>
          </a:p>
        </p:txBody>
      </p:sp>
      <p:sp>
        <p:nvSpPr>
          <p:cNvPr id="24" name="Text 18">
            <a:extLst>
              <a:ext uri="{FF2B5EF4-FFF2-40B4-BE49-F238E27FC236}">
                <a16:creationId xmlns:a16="http://schemas.microsoft.com/office/drawing/2014/main" id="{16E9A516-B818-72C8-999F-FA4BD9A70AD3}"/>
              </a:ext>
            </a:extLst>
          </p:cNvPr>
          <p:cNvSpPr txBox="1"/>
          <p:nvPr/>
        </p:nvSpPr>
        <p:spPr>
          <a:xfrm>
            <a:off x="2743200" y="1911096"/>
            <a:ext cx="4069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0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keyword search</a:t>
            </a:r>
            <a:endParaRPr lang="en-US" sz="900" dirty="0"/>
          </a:p>
        </p:txBody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56A074EE-8B2A-3246-1038-D09C562132DB}"/>
              </a:ext>
            </a:extLst>
          </p:cNvPr>
          <p:cNvSpPr txBox="1"/>
          <p:nvPr/>
        </p:nvSpPr>
        <p:spPr>
          <a:xfrm>
            <a:off x="6949440" y="1911096"/>
            <a:ext cx="4645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b="1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course-matching</a:t>
            </a:r>
            <a:endParaRPr lang="en-US" sz="90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356DD261-44E3-F274-1C7B-CEDC309A1F59}"/>
              </a:ext>
            </a:extLst>
          </p:cNvPr>
          <p:cNvSpPr/>
          <p:nvPr/>
        </p:nvSpPr>
        <p:spPr>
          <a:xfrm>
            <a:off x="457200" y="2171700"/>
            <a:ext cx="11274552" cy="260604"/>
          </a:xfrm>
          <a:prstGeom prst="rect">
            <a:avLst/>
          </a:prstGeom>
          <a:solidFill>
            <a:srgbClr val="F5F7F9"/>
          </a:solidFill>
          <a:ln w="6350">
            <a:solidFill>
              <a:srgbClr val="DCE2E8"/>
            </a:solidFill>
            <a:prstDash val="solid"/>
          </a:ln>
        </p:spPr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7E0DF777-188A-D40E-CBC8-0BF18ABA349B}"/>
              </a:ext>
            </a:extLst>
          </p:cNvPr>
          <p:cNvSpPr txBox="1"/>
          <p:nvPr/>
        </p:nvSpPr>
        <p:spPr>
          <a:xfrm>
            <a:off x="566928" y="2171700"/>
            <a:ext cx="21031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creation</a:t>
            </a:r>
            <a:endParaRPr lang="en-US" sz="930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7487E5C9-790D-D1A1-AD0F-22B163DC273A}"/>
              </a:ext>
            </a:extLst>
          </p:cNvPr>
          <p:cNvSpPr txBox="1"/>
          <p:nvPr/>
        </p:nvSpPr>
        <p:spPr>
          <a:xfrm>
            <a:off x="2743200" y="2171700"/>
            <a:ext cx="4069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0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quiz-building by trainers</a:t>
            </a:r>
            <a:endParaRPr lang="en-US" sz="9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BBB1CFA-B03E-1E29-4E0C-7AE343784B3B}"/>
              </a:ext>
            </a:extLst>
          </p:cNvPr>
          <p:cNvSpPr txBox="1"/>
          <p:nvPr/>
        </p:nvSpPr>
        <p:spPr>
          <a:xfrm>
            <a:off x="6949440" y="2171700"/>
            <a:ext cx="4645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b="1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Auto-MCQ from trainers' own content</a:t>
            </a:r>
            <a:endParaRPr lang="en-US" sz="90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25C0171C-7543-2974-E663-243AE1362916}"/>
              </a:ext>
            </a:extLst>
          </p:cNvPr>
          <p:cNvSpPr/>
          <p:nvPr/>
        </p:nvSpPr>
        <p:spPr>
          <a:xfrm>
            <a:off x="457200" y="2432304"/>
            <a:ext cx="11274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8"/>
            </a:solidFill>
            <a:prstDash val="solid"/>
          </a:ln>
        </p:spPr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BB6B2D7-4D3D-E4D9-9E16-42463C12357B}"/>
              </a:ext>
            </a:extLst>
          </p:cNvPr>
          <p:cNvSpPr txBox="1"/>
          <p:nvPr/>
        </p:nvSpPr>
        <p:spPr>
          <a:xfrm>
            <a:off x="566928" y="2432304"/>
            <a:ext cx="21031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access</a:t>
            </a:r>
            <a:endParaRPr lang="en-US" sz="930" dirty="0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D819D077-9375-F32B-0D53-9E70BC14884D}"/>
              </a:ext>
            </a:extLst>
          </p:cNvPr>
          <p:cNvSpPr txBox="1"/>
          <p:nvPr/>
        </p:nvSpPr>
        <p:spPr>
          <a:xfrm>
            <a:off x="2743200" y="2432304"/>
            <a:ext cx="4069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0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Largely single-language</a:t>
            </a:r>
            <a:endParaRPr lang="en-US" sz="9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7104D11A-4C4D-FC29-6726-9B548496D448}"/>
              </a:ext>
            </a:extLst>
          </p:cNvPr>
          <p:cNvSpPr txBox="1"/>
          <p:nvPr/>
        </p:nvSpPr>
        <p:spPr>
          <a:xfrm>
            <a:off x="6949440" y="2432304"/>
            <a:ext cx="4645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b="1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Bhashini — Hindi + 10 languages</a:t>
            </a:r>
            <a:endParaRPr lang="en-US" sz="900" dirty="0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5A74F4BA-4141-0849-A71A-A9D6269A08C2}"/>
              </a:ext>
            </a:extLst>
          </p:cNvPr>
          <p:cNvSpPr/>
          <p:nvPr/>
        </p:nvSpPr>
        <p:spPr>
          <a:xfrm>
            <a:off x="457200" y="2692908"/>
            <a:ext cx="11274552" cy="260604"/>
          </a:xfrm>
          <a:prstGeom prst="rect">
            <a:avLst/>
          </a:prstGeom>
          <a:solidFill>
            <a:srgbClr val="F5F7F9"/>
          </a:solidFill>
          <a:ln w="6350">
            <a:solidFill>
              <a:srgbClr val="DCE2E8"/>
            </a:solidFill>
            <a:prstDash val="solid"/>
          </a:ln>
        </p:spPr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2A7AE051-2E8D-674D-CC14-D1737AC1BE91}"/>
              </a:ext>
            </a:extLst>
          </p:cNvPr>
          <p:cNvSpPr txBox="1"/>
          <p:nvPr/>
        </p:nvSpPr>
        <p:spPr>
          <a:xfrm>
            <a:off x="566928" y="2692908"/>
            <a:ext cx="21031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cycle</a:t>
            </a:r>
            <a:endParaRPr lang="en-US" sz="930" dirty="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9A814C4B-3F45-DCE0-A998-E9FC0FDAEE80}"/>
              </a:ext>
            </a:extLst>
          </p:cNvPr>
          <p:cNvSpPr txBox="1"/>
          <p:nvPr/>
        </p:nvSpPr>
        <p:spPr>
          <a:xfrm>
            <a:off x="2743200" y="2692908"/>
            <a:ext cx="4069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0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assess, then stop</a:t>
            </a:r>
            <a:endParaRPr lang="en-US" sz="900" dirty="0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A0760817-D6E6-9113-79A4-47237B39825E}"/>
              </a:ext>
            </a:extLst>
          </p:cNvPr>
          <p:cNvSpPr txBox="1"/>
          <p:nvPr/>
        </p:nvSpPr>
        <p:spPr>
          <a:xfrm>
            <a:off x="6949440" y="2692908"/>
            <a:ext cx="4645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b="1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 — assess → learn → test → reassess</a:t>
            </a:r>
            <a:endParaRPr lang="en-US" sz="900" dirty="0"/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3A8F4B8B-81EA-B727-E17F-89376106196C}"/>
              </a:ext>
            </a:extLst>
          </p:cNvPr>
          <p:cNvSpPr/>
          <p:nvPr/>
        </p:nvSpPr>
        <p:spPr>
          <a:xfrm>
            <a:off x="457200" y="2953512"/>
            <a:ext cx="11274552" cy="260604"/>
          </a:xfrm>
          <a:prstGeom prst="rect">
            <a:avLst/>
          </a:prstGeom>
          <a:solidFill>
            <a:srgbClr val="FFFFFF"/>
          </a:solidFill>
          <a:ln w="6350">
            <a:solidFill>
              <a:srgbClr val="DCE2E8"/>
            </a:solidFill>
            <a:prstDash val="solid"/>
          </a:ln>
        </p:spPr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84A3CC75-3D77-E6C4-D943-95B730B6320F}"/>
              </a:ext>
            </a:extLst>
          </p:cNvPr>
          <p:cNvSpPr txBox="1"/>
          <p:nvPr/>
        </p:nvSpPr>
        <p:spPr>
          <a:xfrm>
            <a:off x="566928" y="2953512"/>
            <a:ext cx="210312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3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30" dirty="0"/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0BD90D06-1EDE-7973-05CC-AEDEF1392F6B}"/>
              </a:ext>
            </a:extLst>
          </p:cNvPr>
          <p:cNvSpPr txBox="1"/>
          <p:nvPr/>
        </p:nvSpPr>
        <p:spPr>
          <a:xfrm>
            <a:off x="2743200" y="2953512"/>
            <a:ext cx="4069080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551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90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licensed</a:t>
            </a:r>
            <a:endParaRPr lang="en-US" sz="900" dirty="0"/>
          </a:p>
        </p:txBody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3A3CC849-F031-5E89-C935-6E2DC35FE681}"/>
              </a:ext>
            </a:extLst>
          </p:cNvPr>
          <p:cNvSpPr txBox="1"/>
          <p:nvPr/>
        </p:nvSpPr>
        <p:spPr>
          <a:xfrm>
            <a:off x="6949440" y="2953512"/>
            <a:ext cx="4645152" cy="260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900" b="1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GovCloud-ready</a:t>
            </a:r>
            <a:endParaRPr lang="en-US" sz="900" dirty="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CCCCF440-B6DA-567D-973B-D6AB73CB6F4E}"/>
              </a:ext>
            </a:extLst>
          </p:cNvPr>
          <p:cNvSpPr/>
          <p:nvPr/>
        </p:nvSpPr>
        <p:spPr>
          <a:xfrm>
            <a:off x="457200" y="1078992"/>
            <a:ext cx="11274552" cy="2135124"/>
          </a:xfrm>
          <a:prstGeom prst="rect">
            <a:avLst/>
          </a:prstGeom>
          <a:ln w="12700">
            <a:solidFill>
              <a:srgbClr val="DCE2E8"/>
            </a:solidFill>
            <a:prstDash val="solid"/>
          </a:ln>
        </p:spPr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D07F1545-4C05-4205-B0B5-3750BA4C8251}"/>
              </a:ext>
            </a:extLst>
          </p:cNvPr>
          <p:cNvSpPr txBox="1"/>
          <p:nvPr/>
        </p:nvSpPr>
        <p:spPr>
          <a:xfrm>
            <a:off x="457200" y="336956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150" dirty="0"/>
          </a:p>
        </p:txBody>
      </p:sp>
      <p:sp>
        <p:nvSpPr>
          <p:cNvPr id="44" name="Shape 38">
            <a:extLst>
              <a:ext uri="{FF2B5EF4-FFF2-40B4-BE49-F238E27FC236}">
                <a16:creationId xmlns:a16="http://schemas.microsoft.com/office/drawing/2014/main" id="{942F15B5-FA7C-7E35-707C-4401D784C8D9}"/>
              </a:ext>
            </a:extLst>
          </p:cNvPr>
          <p:cNvSpPr/>
          <p:nvPr/>
        </p:nvSpPr>
        <p:spPr>
          <a:xfrm>
            <a:off x="457200" y="3671316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45" name="Shape 39">
            <a:extLst>
              <a:ext uri="{FF2B5EF4-FFF2-40B4-BE49-F238E27FC236}">
                <a16:creationId xmlns:a16="http://schemas.microsoft.com/office/drawing/2014/main" id="{13C028FE-7D3C-9374-BE63-A94B4A508474}"/>
              </a:ext>
            </a:extLst>
          </p:cNvPr>
          <p:cNvSpPr/>
          <p:nvPr/>
        </p:nvSpPr>
        <p:spPr>
          <a:xfrm>
            <a:off x="457200" y="3671316"/>
            <a:ext cx="73152" cy="1051560"/>
          </a:xfrm>
          <a:prstGeom prst="roundRect">
            <a:avLst/>
          </a:prstGeom>
          <a:solidFill>
            <a:srgbClr val="0E6F6A"/>
          </a:solidFill>
          <a:ln/>
        </p:spPr>
      </p:sp>
      <p:sp>
        <p:nvSpPr>
          <p:cNvPr id="46" name="Text 40">
            <a:extLst>
              <a:ext uri="{FF2B5EF4-FFF2-40B4-BE49-F238E27FC236}">
                <a16:creationId xmlns:a16="http://schemas.microsoft.com/office/drawing/2014/main" id="{74D11022-352B-BAB2-9986-C506022E4556}"/>
              </a:ext>
            </a:extLst>
          </p:cNvPr>
          <p:cNvSpPr txBox="1"/>
          <p:nvPr/>
        </p:nvSpPr>
        <p:spPr>
          <a:xfrm>
            <a:off x="658368" y="3744468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6F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Officials / Learners</a:t>
            </a:r>
            <a:endParaRPr lang="en-US" sz="1100" dirty="0"/>
          </a:p>
        </p:txBody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5C8EAC40-9F32-8520-CCE2-096C2C601306}"/>
              </a:ext>
            </a:extLst>
          </p:cNvPr>
          <p:cNvSpPr txBox="1"/>
          <p:nvPr/>
        </p:nvSpPr>
        <p:spPr>
          <a:xfrm>
            <a:off x="658368" y="4000500"/>
            <a:ext cx="3273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gap report</a:t>
            </a:r>
            <a:endParaRPr lang="en-US" sz="870" dirty="0"/>
          </a:p>
          <a:p>
            <a:pPr marL="342900" indent="-3429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relevant course recommendation</a:t>
            </a:r>
            <a:endParaRPr lang="en-US" sz="870" dirty="0"/>
          </a:p>
          <a:p>
            <a:pPr marL="342900" indent="-3429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self-assessment</a:t>
            </a:r>
            <a:endParaRPr lang="en-US" sz="870" dirty="0"/>
          </a:p>
        </p:txBody>
      </p:sp>
      <p:sp>
        <p:nvSpPr>
          <p:cNvPr id="48" name="Shape 42">
            <a:extLst>
              <a:ext uri="{FF2B5EF4-FFF2-40B4-BE49-F238E27FC236}">
                <a16:creationId xmlns:a16="http://schemas.microsoft.com/office/drawing/2014/main" id="{D3BF4D98-75E8-F4E1-AE70-901E7A4C9210}"/>
              </a:ext>
            </a:extLst>
          </p:cNvPr>
          <p:cNvSpPr/>
          <p:nvPr/>
        </p:nvSpPr>
        <p:spPr>
          <a:xfrm>
            <a:off x="4279392" y="3671316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49" name="Shape 43">
            <a:extLst>
              <a:ext uri="{FF2B5EF4-FFF2-40B4-BE49-F238E27FC236}">
                <a16:creationId xmlns:a16="http://schemas.microsoft.com/office/drawing/2014/main" id="{685B39E0-2D54-31E0-8FCC-E45E43B83B30}"/>
              </a:ext>
            </a:extLst>
          </p:cNvPr>
          <p:cNvSpPr/>
          <p:nvPr/>
        </p:nvSpPr>
        <p:spPr>
          <a:xfrm>
            <a:off x="4279392" y="3671316"/>
            <a:ext cx="73152" cy="1051560"/>
          </a:xfrm>
          <a:prstGeom prst="roundRect">
            <a:avLst/>
          </a:prstGeom>
          <a:solidFill>
            <a:srgbClr val="16233F"/>
          </a:solidFill>
          <a:ln/>
        </p:spPr>
      </p:sp>
      <p:sp>
        <p:nvSpPr>
          <p:cNvPr id="50" name="Text 44">
            <a:extLst>
              <a:ext uri="{FF2B5EF4-FFF2-40B4-BE49-F238E27FC236}">
                <a16:creationId xmlns:a16="http://schemas.microsoft.com/office/drawing/2014/main" id="{E7658DFC-336D-276A-4910-E591C11653AB}"/>
              </a:ext>
            </a:extLst>
          </p:cNvPr>
          <p:cNvSpPr txBox="1"/>
          <p:nvPr/>
        </p:nvSpPr>
        <p:spPr>
          <a:xfrm>
            <a:off x="4480560" y="3744468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Trainers / Admins</a:t>
            </a:r>
            <a:endParaRPr lang="en-US" sz="1100" dirty="0"/>
          </a:p>
        </p:txBody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699ACA59-81EE-113A-16D6-E7536D2E3BC8}"/>
              </a:ext>
            </a:extLst>
          </p:cNvPr>
          <p:cNvSpPr txBox="1"/>
          <p:nvPr/>
        </p:nvSpPr>
        <p:spPr>
          <a:xfrm>
            <a:off x="4480560" y="4000500"/>
            <a:ext cx="3273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AI-generated MCQs</a:t>
            </a:r>
            <a:endParaRPr lang="en-US" sz="870" dirty="0"/>
          </a:p>
          <a:p>
            <a:pPr marL="342900" indent="-3429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wide skill gap view</a:t>
            </a:r>
            <a:endParaRPr lang="en-US" sz="870" dirty="0"/>
          </a:p>
          <a:p>
            <a:pPr marL="342900" indent="-3429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training decisions</a:t>
            </a:r>
            <a:endParaRPr lang="en-US" sz="870" dirty="0"/>
          </a:p>
        </p:txBody>
      </p:sp>
      <p:sp>
        <p:nvSpPr>
          <p:cNvPr id="52" name="Shape 46">
            <a:extLst>
              <a:ext uri="{FF2B5EF4-FFF2-40B4-BE49-F238E27FC236}">
                <a16:creationId xmlns:a16="http://schemas.microsoft.com/office/drawing/2014/main" id="{35E9DC9E-5ECC-8E41-BE71-C0C950976ADB}"/>
              </a:ext>
            </a:extLst>
          </p:cNvPr>
          <p:cNvSpPr/>
          <p:nvPr/>
        </p:nvSpPr>
        <p:spPr>
          <a:xfrm>
            <a:off x="8101584" y="3671316"/>
            <a:ext cx="3639312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53" name="Shape 47">
            <a:extLst>
              <a:ext uri="{FF2B5EF4-FFF2-40B4-BE49-F238E27FC236}">
                <a16:creationId xmlns:a16="http://schemas.microsoft.com/office/drawing/2014/main" id="{610C05CD-0841-1568-753D-B878D6AB0DA7}"/>
              </a:ext>
            </a:extLst>
          </p:cNvPr>
          <p:cNvSpPr/>
          <p:nvPr/>
        </p:nvSpPr>
        <p:spPr>
          <a:xfrm>
            <a:off x="8101584" y="3671316"/>
            <a:ext cx="73152" cy="1051560"/>
          </a:xfrm>
          <a:prstGeom prst="roundRect">
            <a:avLst/>
          </a:prstGeom>
          <a:solidFill>
            <a:srgbClr val="B4690E"/>
          </a:solidFill>
          <a:ln/>
        </p:spPr>
      </p:sp>
      <p:sp>
        <p:nvSpPr>
          <p:cNvPr id="54" name="Text 48">
            <a:extLst>
              <a:ext uri="{FF2B5EF4-FFF2-40B4-BE49-F238E27FC236}">
                <a16:creationId xmlns:a16="http://schemas.microsoft.com/office/drawing/2014/main" id="{AA17CA41-27D3-5830-2257-3C1C92BB9CDF}"/>
              </a:ext>
            </a:extLst>
          </p:cNvPr>
          <p:cNvSpPr txBox="1"/>
          <p:nvPr/>
        </p:nvSpPr>
        <p:spPr>
          <a:xfrm>
            <a:off x="8302752" y="3744468"/>
            <a:ext cx="3273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46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/ National</a:t>
            </a:r>
            <a:endParaRPr lang="en-US" sz="1100" dirty="0"/>
          </a:p>
        </p:txBody>
      </p:sp>
      <p:sp>
        <p:nvSpPr>
          <p:cNvPr id="55" name="Text 49">
            <a:extLst>
              <a:ext uri="{FF2B5EF4-FFF2-40B4-BE49-F238E27FC236}">
                <a16:creationId xmlns:a16="http://schemas.microsoft.com/office/drawing/2014/main" id="{595678A2-5884-F1FD-9155-911F63123D6E}"/>
              </a:ext>
            </a:extLst>
          </p:cNvPr>
          <p:cNvSpPr txBox="1"/>
          <p:nvPr/>
        </p:nvSpPr>
        <p:spPr>
          <a:xfrm>
            <a:off x="8302752" y="4000500"/>
            <a:ext cx="32735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utilisation of iGOT resources</a:t>
            </a:r>
            <a:endParaRPr lang="en-US" sz="870" dirty="0"/>
          </a:p>
          <a:p>
            <a:pPr marL="342900" indent="-3429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 statistical workforce</a:t>
            </a:r>
            <a:endParaRPr lang="en-US" sz="870" dirty="0"/>
          </a:p>
          <a:p>
            <a:pPr marL="342900" indent="-3429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870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Mission </a:t>
            </a:r>
            <a:r>
              <a:rPr lang="en-US" sz="870" dirty="0" err="1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Karmayogi</a:t>
            </a:r>
            <a:endParaRPr lang="en-US" sz="870" dirty="0"/>
          </a:p>
        </p:txBody>
      </p:sp>
      <p:sp>
        <p:nvSpPr>
          <p:cNvPr id="56" name="Shape 50">
            <a:extLst>
              <a:ext uri="{FF2B5EF4-FFF2-40B4-BE49-F238E27FC236}">
                <a16:creationId xmlns:a16="http://schemas.microsoft.com/office/drawing/2014/main" id="{53097170-17DC-63BE-F862-1C8661F7133F}"/>
              </a:ext>
            </a:extLst>
          </p:cNvPr>
          <p:cNvSpPr/>
          <p:nvPr/>
        </p:nvSpPr>
        <p:spPr>
          <a:xfrm>
            <a:off x="457200" y="5015484"/>
            <a:ext cx="11274552" cy="932688"/>
          </a:xfrm>
          <a:prstGeom prst="roundRect">
            <a:avLst>
              <a:gd name="adj" fmla="val 9804"/>
            </a:avLst>
          </a:prstGeom>
          <a:solidFill>
            <a:srgbClr val="F5F7F9"/>
          </a:solidFill>
          <a:ln w="12700">
            <a:solidFill>
              <a:srgbClr val="DCE2E8"/>
            </a:solidFill>
            <a:prstDash val="solid"/>
          </a:ln>
        </p:spPr>
      </p:sp>
      <p:sp>
        <p:nvSpPr>
          <p:cNvPr id="57" name="Text 51">
            <a:extLst>
              <a:ext uri="{FF2B5EF4-FFF2-40B4-BE49-F238E27FC236}">
                <a16:creationId xmlns:a16="http://schemas.microsoft.com/office/drawing/2014/main" id="{8B534E67-1BA6-39A3-DB37-3DE326E175DD}"/>
              </a:ext>
            </a:extLst>
          </p:cNvPr>
          <p:cNvSpPr txBox="1"/>
          <p:nvPr/>
        </p:nvSpPr>
        <p:spPr>
          <a:xfrm>
            <a:off x="777240" y="5152644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6B768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ONE-TIME CERTIFICATION   </a:t>
            </a:r>
            <a:r>
              <a:rPr lang="en-US" sz="1900" b="1" dirty="0">
                <a:solidFill>
                  <a:srgbClr val="B46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 </a:t>
            </a:r>
            <a:r>
              <a:rPr lang="en-US" sz="1900" b="1" dirty="0">
                <a:solidFill>
                  <a:srgbClr val="16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CONTINUOUS COMPETENCY DEVELOPMENT</a:t>
            </a:r>
            <a:endParaRPr lang="en-US" sz="1900" dirty="0"/>
          </a:p>
        </p:txBody>
      </p:sp>
      <p:sp>
        <p:nvSpPr>
          <p:cNvPr id="58" name="Text 52">
            <a:extLst>
              <a:ext uri="{FF2B5EF4-FFF2-40B4-BE49-F238E27FC236}">
                <a16:creationId xmlns:a16="http://schemas.microsoft.com/office/drawing/2014/main" id="{BFE48273-19BC-FD4F-4E3E-3120FA11011C}"/>
              </a:ext>
            </a:extLst>
          </p:cNvPr>
          <p:cNvSpPr txBox="1"/>
          <p:nvPr/>
        </p:nvSpPr>
        <p:spPr>
          <a:xfrm>
            <a:off x="777240" y="5564124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3C47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upskilling. Less redundancy. Continuous capacity building.</a:t>
            </a:r>
            <a:endParaRPr lang="en-US" sz="1150" dirty="0"/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1C6BA11F-027A-C395-BAC5-CA0E78A45A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886" y="59491"/>
            <a:ext cx="158615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Logic_</a:t>
            </a:r>
          </a:p>
          <a:p>
            <a:pPr algn="ctr"/>
            <a:r>
              <a:rPr lang="en-US" dirty="0"/>
              <a:t>Unlocked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145340" y="-87506"/>
            <a:ext cx="12191999" cy="1143000"/>
          </a:xfrm>
        </p:spPr>
        <p:txBody>
          <a:bodyPr/>
          <a:lstStyle/>
          <a:p>
            <a:pPr eaLnBrk="1" hangingPunct="1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/ EXISTING FOUNDATION</a:t>
            </a:r>
            <a:endParaRPr lang="en-US" sz="32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4090" y="-7294"/>
            <a:ext cx="2249850" cy="1062337"/>
          </a:xfrm>
          <a:prstGeom prst="rect">
            <a:avLst/>
          </a:prstGeom>
        </p:spPr>
      </p:pic>
      <p:sp>
        <p:nvSpPr>
          <p:cNvPr id="17426" name="TextBox 17425">
            <a:extLst>
              <a:ext uri="{FF2B5EF4-FFF2-40B4-BE49-F238E27FC236}">
                <a16:creationId xmlns:a16="http://schemas.microsoft.com/office/drawing/2014/main" id="{908C2D60-BE79-4ED4-F43E-96A3367D979A}"/>
              </a:ext>
            </a:extLst>
          </p:cNvPr>
          <p:cNvSpPr txBox="1"/>
          <p:nvPr/>
        </p:nvSpPr>
        <p:spPr>
          <a:xfrm>
            <a:off x="411270" y="1071553"/>
            <a:ext cx="60000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lang="en-IN" sz="1200" b="1" dirty="0"/>
              <a:t>Existing </a:t>
            </a:r>
            <a:r>
              <a:rPr lang="en-IN" sz="1200" b="1" dirty="0" err="1"/>
              <a:t>Skillify</a:t>
            </a:r>
            <a:r>
              <a:rPr lang="en-IN" sz="1200" b="1" dirty="0"/>
              <a:t> modules demonstrating the technical foundation for our proposed SIH solution</a:t>
            </a:r>
            <a:endParaRPr sz="1200" b="1" i="0" dirty="0">
              <a:solidFill>
                <a:srgbClr val="6B7686"/>
              </a:solidFill>
              <a:latin typeface="Calibri"/>
            </a:endParaRPr>
          </a:p>
        </p:txBody>
      </p:sp>
      <p:sp>
        <p:nvSpPr>
          <p:cNvPr id="17430" name="TextBox 17429">
            <a:extLst>
              <a:ext uri="{FF2B5EF4-FFF2-40B4-BE49-F238E27FC236}">
                <a16:creationId xmlns:a16="http://schemas.microsoft.com/office/drawing/2014/main" id="{2662E79C-327C-56E5-4EAD-A3827133F89C}"/>
              </a:ext>
            </a:extLst>
          </p:cNvPr>
          <p:cNvSpPr txBox="1"/>
          <p:nvPr/>
        </p:nvSpPr>
        <p:spPr>
          <a:xfrm>
            <a:off x="892878" y="5937139"/>
            <a:ext cx="279549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IN" sz="1050" b="1" dirty="0"/>
              <a:t>Existing </a:t>
            </a:r>
            <a:r>
              <a:rPr lang="en-IN" sz="1050" b="1" dirty="0" err="1"/>
              <a:t>Skillify</a:t>
            </a:r>
            <a:r>
              <a:rPr lang="en-IN" sz="1050" b="1" dirty="0"/>
              <a:t> — Learner Dashboard</a:t>
            </a:r>
          </a:p>
          <a:p>
            <a:pPr algn="ctr">
              <a:spcAft>
                <a:spcPts val="0"/>
              </a:spcAft>
            </a:pPr>
            <a:r>
              <a:rPr lang="en-IN" sz="1050" b="1" dirty="0"/>
              <a:t>SIH: Government Official competency dashboard</a:t>
            </a:r>
            <a:endParaRPr sz="1050" b="1" i="0" dirty="0">
              <a:solidFill>
                <a:srgbClr val="16233F"/>
              </a:solidFill>
              <a:latin typeface="Calibri"/>
            </a:endParaRPr>
          </a:p>
        </p:txBody>
      </p:sp>
      <p:sp>
        <p:nvSpPr>
          <p:cNvPr id="17435" name="TextBox 17434">
            <a:extLst>
              <a:ext uri="{FF2B5EF4-FFF2-40B4-BE49-F238E27FC236}">
                <a16:creationId xmlns:a16="http://schemas.microsoft.com/office/drawing/2014/main" id="{89DAEC4E-BDAA-E7D8-F6D1-786CA24F3FED}"/>
              </a:ext>
            </a:extLst>
          </p:cNvPr>
          <p:cNvSpPr txBox="1"/>
          <p:nvPr/>
        </p:nvSpPr>
        <p:spPr>
          <a:xfrm>
            <a:off x="4528259" y="5932455"/>
            <a:ext cx="291476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IN" sz="1050" b="1" i="0" dirty="0">
                <a:solidFill>
                  <a:srgbClr val="16233F"/>
                </a:solidFill>
                <a:latin typeface="Calibri"/>
              </a:rPr>
              <a:t>Existing </a:t>
            </a:r>
            <a:r>
              <a:rPr lang="en-IN" sz="1050" b="1" i="0" dirty="0" err="1">
                <a:solidFill>
                  <a:srgbClr val="16233F"/>
                </a:solidFill>
                <a:latin typeface="Calibri"/>
              </a:rPr>
              <a:t>Skillify</a:t>
            </a:r>
            <a:r>
              <a:rPr lang="en-IN" sz="1050" b="1" i="0" dirty="0">
                <a:solidFill>
                  <a:srgbClr val="16233F"/>
                </a:solidFill>
                <a:latin typeface="Calibri"/>
              </a:rPr>
              <a:t> – Exam creation</a:t>
            </a:r>
          </a:p>
          <a:p>
            <a:pPr algn="ctr">
              <a:spcAft>
                <a:spcPts val="0"/>
              </a:spcAft>
            </a:pPr>
            <a:r>
              <a:rPr lang="en-IN" sz="1050" b="1" dirty="0"/>
              <a:t>SIH: Trainer uploads material → AI-generated MCQs</a:t>
            </a:r>
            <a:endParaRPr sz="1050" b="1" i="0" dirty="0">
              <a:solidFill>
                <a:srgbClr val="16233F"/>
              </a:solidFill>
              <a:latin typeface="Calibri"/>
            </a:endParaRPr>
          </a:p>
        </p:txBody>
      </p:sp>
      <p:sp>
        <p:nvSpPr>
          <p:cNvPr id="17437" name="Rounded Rectangle 17436">
            <a:extLst>
              <a:ext uri="{FF2B5EF4-FFF2-40B4-BE49-F238E27FC236}">
                <a16:creationId xmlns:a16="http://schemas.microsoft.com/office/drawing/2014/main" id="{DE34E5CC-54B3-ED93-7F33-8A94212D6BB4}"/>
              </a:ext>
            </a:extLst>
          </p:cNvPr>
          <p:cNvSpPr/>
          <p:nvPr/>
        </p:nvSpPr>
        <p:spPr>
          <a:xfrm>
            <a:off x="8119872" y="4384192"/>
            <a:ext cx="3611880" cy="14500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15875">
            <a:solidFill>
              <a:srgbClr val="DC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Rectangle 17437">
            <a:extLst>
              <a:ext uri="{FF2B5EF4-FFF2-40B4-BE49-F238E27FC236}">
                <a16:creationId xmlns:a16="http://schemas.microsoft.com/office/drawing/2014/main" id="{1DB05747-D92A-7884-F712-BD03DF320263}"/>
              </a:ext>
            </a:extLst>
          </p:cNvPr>
          <p:cNvSpPr/>
          <p:nvPr/>
        </p:nvSpPr>
        <p:spPr>
          <a:xfrm>
            <a:off x="8266176" y="4530496"/>
            <a:ext cx="3319272" cy="837392"/>
          </a:xfrm>
          <a:prstGeom prst="rect">
            <a:avLst/>
          </a:prstGeom>
          <a:noFill/>
          <a:ln w="12700">
            <a:solidFill>
              <a:srgbClr val="6B76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>
            <a:extLst>
              <a:ext uri="{FF2B5EF4-FFF2-40B4-BE49-F238E27FC236}">
                <a16:creationId xmlns:a16="http://schemas.microsoft.com/office/drawing/2014/main" id="{431836C0-743A-7458-EE9A-C7F8040861EB}"/>
              </a:ext>
            </a:extLst>
          </p:cNvPr>
          <p:cNvSpPr txBox="1"/>
          <p:nvPr/>
        </p:nvSpPr>
        <p:spPr>
          <a:xfrm>
            <a:off x="8266176" y="4530496"/>
            <a:ext cx="3319272" cy="8373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6B7686"/>
                </a:solidFill>
                <a:latin typeface="Calibri"/>
              </a:rPr>
              <a:t>SCREENSHOT</a:t>
            </a:r>
          </a:p>
          <a:p>
            <a:pPr algn="ctr">
              <a:spcAft>
                <a:spcPts val="200"/>
              </a:spcAft>
            </a:pPr>
            <a:r>
              <a:rPr sz="900" b="0" i="1">
                <a:solidFill>
                  <a:srgbClr val="6B7686"/>
                </a:solidFill>
                <a:latin typeface="Calibri"/>
              </a:rPr>
              <a:t>placeholder</a:t>
            </a:r>
          </a:p>
        </p:txBody>
      </p:sp>
      <p:sp>
        <p:nvSpPr>
          <p:cNvPr id="17440" name="TextBox 17439">
            <a:extLst>
              <a:ext uri="{FF2B5EF4-FFF2-40B4-BE49-F238E27FC236}">
                <a16:creationId xmlns:a16="http://schemas.microsoft.com/office/drawing/2014/main" id="{8E00541A-F707-DE3D-4A2B-A1FA1CC285FC}"/>
              </a:ext>
            </a:extLst>
          </p:cNvPr>
          <p:cNvSpPr txBox="1"/>
          <p:nvPr/>
        </p:nvSpPr>
        <p:spPr>
          <a:xfrm>
            <a:off x="8527750" y="5923703"/>
            <a:ext cx="320400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050" b="1" dirty="0"/>
              <a:t>Existing </a:t>
            </a:r>
            <a:r>
              <a:rPr lang="en-IN" sz="1050" b="1" dirty="0" err="1"/>
              <a:t>Skillify</a:t>
            </a:r>
            <a:r>
              <a:rPr lang="en-IN" sz="1050" b="1" dirty="0"/>
              <a:t> — Course Discovery</a:t>
            </a:r>
          </a:p>
          <a:p>
            <a:pPr algn="ctr"/>
            <a:r>
              <a:rPr lang="en-IN" sz="1050" b="1" dirty="0"/>
              <a:t>SIH: Competency-based </a:t>
            </a:r>
            <a:r>
              <a:rPr lang="en-IN" sz="1050" b="1" dirty="0" err="1"/>
              <a:t>iGOT</a:t>
            </a:r>
            <a:r>
              <a:rPr lang="en-IN" sz="1050" b="1" dirty="0"/>
              <a:t> / NSSTA recommendations</a:t>
            </a:r>
          </a:p>
        </p:txBody>
      </p:sp>
      <p:sp>
        <p:nvSpPr>
          <p:cNvPr id="3" name="Oval 2" descr="Your startup LOGO">
            <a:extLst>
              <a:ext uri="{FF2B5EF4-FFF2-40B4-BE49-F238E27FC236}">
                <a16:creationId xmlns:a16="http://schemas.microsoft.com/office/drawing/2014/main" id="{8C15E54D-4BB7-59B6-0753-C4C8C01277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886" y="59491"/>
            <a:ext cx="1586154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Logic_</a:t>
            </a:r>
          </a:p>
          <a:p>
            <a:pPr algn="ctr"/>
            <a:r>
              <a:rPr lang="en-US" dirty="0"/>
              <a:t>Unlocked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AEE2DA-A222-DC41-761E-0598A89E8B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444" y="1387394"/>
            <a:ext cx="3896366" cy="44354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834DB8B-C8E5-A9CF-7DDE-5D63892B68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2" y="1315767"/>
            <a:ext cx="3611878" cy="448318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D8E1AD-DDD3-1D12-0FF7-45DD5CB288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5196" y="1322850"/>
            <a:ext cx="3661606" cy="448318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4705449-C87C-8746-6F60-3E145EB5EC67}"/>
              </a:ext>
            </a:extLst>
          </p:cNvPr>
          <p:cNvSpPr txBox="1"/>
          <p:nvPr/>
        </p:nvSpPr>
        <p:spPr>
          <a:xfrm>
            <a:off x="6735097" y="489646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8788</TotalTime>
  <Words>1210</Words>
  <Application>Microsoft Office PowerPoint</Application>
  <PresentationFormat>Widescreen</PresentationFormat>
  <Paragraphs>192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Cambria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PROTOTYPE / EXISTING FOUNDATION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Vedant Nikam</cp:lastModifiedBy>
  <cp:revision>167</cp:revision>
  <dcterms:created xsi:type="dcterms:W3CDTF">2013-12-12T18:46:50Z</dcterms:created>
  <dcterms:modified xsi:type="dcterms:W3CDTF">2026-09-02T14:27:46Z</dcterms:modified>
  <cp:category/>
</cp:coreProperties>
</file>